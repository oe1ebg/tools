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(1 Min). Ablauf nennen: kurze Einführung in die Idee und den Meldeweg (ca. 8 Min), dann ein Blick ins Handbuch (ca. 7 Min), dann die Live-Demo (ca. 15 Min), zum Schluss offene Punkte und Fragen. Fragen sind jederzeit willkommen.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Lage kurz halten (1 Min); das Publikum kennt sie. Bei einem großflächigen Ausfall funktionieren die üblichen Wege nicht. In Wien richtet die Stadt Lichtinseln ein, die mit Funk und wo möglich mit Funkamateuren des Notfunkreferats besetzt sind. So kommt eine Meldung aus der Nachbarschaft zum Krisenmanagement der Stadt.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eigentliche Geschichte (2 Min). Klar sagen: Das ist keine klassische Web-Anwendung. Es gibt keine Serverseite und keinen Zustand, der über das Netz abgeglichen wird. Es ist offline first: Das Werkzeug läuft im Browser, jedes Gerät führt sein eigenes Meldebuch, und die Daten bleiben auf diesem Gerät. Daten von einem Gerät auf ein anderes kommen nur über eine Sicherungsdatei (Sichern und Wiederherstellen), nicht über eine Synchronisation. Das passt zum Meldeweg: Die Meldung wandert per Funk von Station zu Station, jede Station schreibt sie in ihr eigenes Meldebuch. Papier ist nicht gescheitert, sondern die letzte Rückfallebene: Solange es Strom und einen Rechner gibt, funktioniert das Meldebuch, auch ohne Internet. Ein lokales Netz und ein Drucker sind sehr sinnvoll, aber keine Voraussetzung. Das Meldungsformat ist ein Entwurf für Übungen.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 nur erzählen, nicht vorführen (per Zoom lässt sich Offline nicht zeigen). Kernbotschaft: Das Meldebuch ist eine Web-App und läuft im Browser, aber im Einsatz soll man sich nicht darauf verlassen, dass der Browser die Seite offline noch findet. Deshalb einmal mit Internet öffnen, warten bis oben rechts „offline bereit ✓“ steht (dabei lädt es Rufzeichenliste, Relaisliste und Wiener Adressen), dann installieren. Chrome oder Edge am Computer: Installieren-Symbol in der Adresszeile. Android: „App installieren“. iPhone und iPad in Safari: Teilen → „Zum Home-Bildschirm“. Mac-Safari: „Zum Dock hinzufügen“. Firefox am Computer kann Web-Apps meist nicht installieren; dort die Offline-Datei oder Chrome/Edge nehmen. Gestartet wird die App über ihr Symbol, im eigenen Fenster. Zum Selbermachen zu Hause: Netz abschalten und die App neu starten, sie muss sich öffnen. Offline-Datei und installierte App haben getrennte Daten; für einen Einsatz für eine der beiden entscheiden, zum Umziehen die Sicherung verwenden. Neue Versionen erscheinen als Balken „Neue Version bereit“ und werden erst nach „Jetzt verwenden“ geladen, mitten im Einsatz besser nicht aktualisieren.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Herzstück (3 Min), auf diese Folie ruhig Zeit verwenden und danach auf die offene Diskussion verweisen. Der durchgezogene Pfeil oben ist der Hinweg der Meldung, der gestrichelte unten der Rückweg der Antwort. Hin: aufnehmen, funken, weitergeben, übergeben. Der Funkamateur an der Lichtinsel schreibt den Wortlaut auf und liest ihn zurück (empfohlen, nicht zwingend). Vom K-Vorsorgestandort geht es meist über BOS-Funk, als Backup über das taktische Amateurfunknetz, an die Einsatzleitstelle (ELS). Dort übergibt der Funkamateur an die Meldesammelstelle des Kriseneinsatzstabs. Hier endet die Aufgabe der Funkamateure; die Meldesammelstelle nennt eine Referenz. Zurück: dieselbe Kette, die Antwort wird wörtlich aufgenommen und der Person an der Lichtinsel gesagt. Zwei Rückmeldungen unterscheiden: Übernahme („angekommen, Referenz …“) und Antwort („Hilfe ist unterwegs“). Hinweis: Das Bild zeigt den Regelweg der Richtlinie Notfunk Teil 2 – Wien; im Einzelfall hängt der Weg von der Lage ab. Die Pfeile Eingang, Weitergabe und Ausgang an den Stationen beschreiben die Richtung durch das Netz; im Werkzeug bedeuten Eingang und Ausgang die Sicht der jeweiligen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(1–2 Min). Positiv rahmen: Unsere Stärke ist Verlässlichkeit, wir können helfen, wenn andere Wege ausfallen. Das Wichtigste: Wir übermitteln echte Meldungen, im Wortlaut und ohne Veränderung. Das ist die Zusage an den Stab und an die Menschen, die die Meldung abgeben. Dringlichkeit: Sie soll vorab festgelegt sein und nicht ad hoc von uns gesetzt werden. Welche Stufen es gibt (z. B. Lebensgefahr, Brand), ist noch festzulegen und gehört auf die Diskussionsfolie. Die Richtlinie sagt, dass Amateurfunkstellen nicht selbst Nachrichten erzeugen, sondern übermitteln; das ist der Kern unserer Glaubwürdigkeit. Das Meldebuch unterstützt genau diese Rolle: Der Wortlaut bleibt unverändert gespeichert, die Nummern sind lückenlos, jede Fassung bleibt erhalten, und es zeigt, wer wann was übergeben hat. Jede übermittelte Meldung gehört ins Meldebuch, so wie sie gelaufen ist. Ist gerade keine Zeit, auf Papier mitschreiben und als „Nachtrag vom Papier“ eintragen.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Brücke vom Meldeweg zum Werkzeug (1 Min). Drei Szenarien, je nachdem, wo die Funkstation steht: an der Lichtinsel, am K-Vorsorgestandort, in der Einsatzleitstelle. Jede Station führt ein Meldebuch, jede Meldung hat eine Nummer. Die Notfunk-Nummer (z. B. W1-007) gehört der Station, die Referenz kommt von der Meldesammelstelle; das Meldebuch führt beide getrennt. Bewusst nicht ins Detail der Meldungsstatus gehen: Wie sie genau heißen und welche Bestätigungen nötig sind, ist noch nicht abgestimmt (siehe Diskussionsfolie). In der Demo sieht man die Status direkt in der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Handbuch im Browser öffnen und durchklicken (ca. 7 Min), nicht vorlesen. Reihenfolge: Startseite der Anleitung, dann Einführung (der Weg einer Notmeldung, mit dem Diagramm), Vorbereitung (offline verwenden, Daten sichern, Updates), Einsatz anlegen, Meldung aufnehmen, Meldebuch, Ausdruck, Sicherung. Dann „Nachschlagen“: Hinweise des Meldebuchs, Tastatur, Quellen (Richtlinie, Lichtinseln, Rechtsgrundlagen). Auf das Tutorial hinweisen: ideal zum Selbststudium vor einer Übung. Auf der Startseite steht auch der „Stand der Abstimmung“; das sind die offenen Punkte der letzten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(ca. 15 Min). Vorher: Beispiel-Sicherung aus examples/backups/ geladen, Browser-Profil mit großer Schrift, Ersatz-Screenshots und eine Sicherung zum Wiederherstellen bereit. Ablauf als Szenario: Einsatz anlegen, eine Meldung von der Lichtinsel aufnehmen (Wortlaut, Rücklesen-Häkchen, Dringlichkeit), speichern; im Meldebuch Status und Liste zeigen, eine Korrektur (jede Fassung bleibt erhalten); Antwort des Stabs als eigene Meldung mit Bezug erfassen; Ausdruck/PDF; Sicherung herunterladen, dann Wiederherstellung zeigen. Zwischendurch Tastaturkürzel einsetzen und kurz das Handy-Layout zeigen. Wenn etwas hakt: auf die Screenshots ausweichen.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 den Folien (1 Min). Das Papierformular nicht als Notlösung zweiter Klasse darstellen, sondern als vorbereiteten Rückfall: vorher ausdrucken, griffbereit halten. Das Meldebuch löscht nie von selbst; Einsätze und Sicherungen verwaltet man selbst, und personenbezogene Daten sind zu löschen, wenn sie nicht mehr gebraucht werden (Richtlinie, Datenschutz).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Diskussion (ca. 5 Min). Das sind die offenen Punkte aus dem „Stand der Abstimmung“ der Anleitung. Ergänzend die Frage an die Gruppe: Wer macht bei uns welchen Schritt des Meldewegs, und wer bestätigt wann? Der Meldeweg ist in der Gruppe noch nicht fertig definiert; das Meldebuch folgt der Richtlinie, kann aber nur so gut sein wie die Absprache. Rückmeldungen aus Übungen sind ausdrücklich erwünscht. Ergebnisse mitschreiben.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Fragen (ca. 5–10 Min). Der QR-Code führt zu https://oe1ebg.at/tools/notfunk/ (Meldebuch und Anleitung). Die Folie nach der Fragerunde stehen lassen, damit man den Code abfotografieren kann. Fehlermeldungen und Wünsche gehen über das GitHub-Repository; für Fragen und Rückmeldungen gibt es die E-Mail-Adresse cq@oe1ebg.at und die Notfunk Telegram Gruppe.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Arial" pitchFamily="34" charset="0"/>
                <a:ea typeface="Arial" pitchFamily="34" charset="-122"/>
                <a:cs typeface="Arial" pitchFamily="34" charset="-120"/>
              </a:defRPr>
            </a:lvl1pPr>
          </a:lstStyle>
          <a:p>
            <a:pPr algn="l" indent="0" marL="0">
              <a:lnSpc>
                <a:spcPct val="115000"/>
              </a:lnSpc>
              <a:buNone/>
            </a:pPr>
            <a:endParaRPr lang="en-US" sz="3200" dirty="0">
              <a:latin typeface="Arial" charset="0"/>
              <a:ea typeface="Arial" charset="0"/>
              <a:cs typeface="Arial"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latin typeface="Arial" charset="0"/>
              <a:ea typeface="Arial" charset="0"/>
              <a:cs typeface="Arial"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Arial" pitchFamily="34" charset="0"/>
                <a:ea typeface="Arial" pitchFamily="34" charset="-122"/>
                <a:cs typeface="Arial" pitchFamily="34" charset="-120"/>
              </a:defRPr>
            </a:lvl1pPr>
          </a:lstStyle>
          <a:p>
            <a:pPr algn="l" indent="0" marL="0">
              <a:lnSpc>
                <a:spcPct val="115000"/>
              </a:lnSpc>
              <a:buNone/>
            </a:pPr>
            <a:endParaRPr lang="en-US" sz="3200" dirty="0">
              <a:latin typeface="Arial" charset="0"/>
              <a:ea typeface="Arial" charset="0"/>
              <a:cs typeface="Arial"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latin typeface="Arial" charset="0"/>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oe1ebg.at/tools/notfunk/" TargetMode="External"/><Relationship Id="rId4" Type="http://schemas.openxmlformats.org/officeDocument/2006/relationships/hyperlink" Target="https://github.com/oe1ebg/tools" TargetMode="External"/><Relationship Id="rId1" Type="http://schemas.openxmlformats.org/officeDocument/2006/relationships/image" Target="../media/image-12-1.png"/><Relationship Id="rId3" Type="http://schemas.openxmlformats.org/officeDocument/2006/relationships/image" Target="../media/image-12-2.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NOTFUNK · EINFÜHRUNG</a:t>
            </a:r>
            <a:endParaRPr lang="en-US" sz="1400" dirty="0">
              <a:latin typeface="Arial" charset="0"/>
              <a:ea typeface="Arial" charset="0"/>
              <a:cs typeface="Arial" charset="0"/>
            </a:endParaRPr>
          </a:p>
        </p:txBody>
      </p:sp>
      <p:sp>
        <p:nvSpPr>
          <p:cNvPr id="3" name="Text 1"/>
          <p:cNvSpPr/>
          <p:nvPr>
            <p:ph type="title"/>
          </p:nvPr>
        </p:nvSpPr>
        <p:spPr>
          <a:xfrm>
            <a:off x="812800" y="27457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02B"/>
                </a:solidFill>
                <a:latin typeface="Arial" pitchFamily="34" charset="0"/>
                <a:ea typeface="Arial" pitchFamily="34" charset="-122"/>
                <a:cs typeface="Arial" pitchFamily="34" charset="-120"/>
              </a:rPr>
              <a:t>Notfunk-Meldebuch</a:t>
            </a:r>
            <a:endParaRPr lang="en-US" sz="6000" dirty="0">
              <a:latin typeface="Arial" charset="0"/>
              <a:ea typeface="Arial" charset="0"/>
              <a:cs typeface="Arial" charset="0"/>
            </a:endParaRPr>
          </a:p>
        </p:txBody>
      </p:sp>
      <p:sp>
        <p:nvSpPr>
          <p:cNvPr id="4" name="Text 2"/>
          <p:cNvSpPr/>
          <p:nvPr/>
        </p:nvSpPr>
        <p:spPr>
          <a:xfrm>
            <a:off x="812800" y="374908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Arial" pitchFamily="34" charset="0"/>
                <a:ea typeface="Arial" pitchFamily="34" charset="-122"/>
                <a:cs typeface="Arial" pitchFamily="34" charset="-120"/>
              </a:rPr>
              <a:t>Meldungen führen, solange Strom und ein Rechner da sind – auch ohne Internet</a:t>
            </a:r>
            <a:endParaRPr lang="en-US" sz="2200" dirty="0">
              <a:latin typeface="Arial" charset="0"/>
              <a:ea typeface="Arial" charset="0"/>
              <a:cs typeface="Arial" charset="0"/>
            </a:endParaRPr>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672"/>
                </a:solidFill>
                <a:latin typeface="Arial" pitchFamily="34" charset="0"/>
                <a:ea typeface="Arial" pitchFamily="34" charset="-122"/>
                <a:cs typeface="Arial" pitchFamily="34" charset="-120"/>
              </a:rPr>
              <a:t>Erich OE1EBG · 2026-11-01 · Notfunkteam</a:t>
            </a:r>
            <a:endParaRPr lang="en-US" sz="1400" dirty="0">
              <a:latin typeface="Arial" charset="0"/>
              <a:ea typeface="Arial" charset="0"/>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SZENARIO</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Szenario: Telefon, Handy und Internet fallen aus</a:t>
            </a:r>
            <a:endParaRPr lang="en-US" sz="3200" dirty="0">
              <a:latin typeface="Arial" charset="0"/>
              <a:ea typeface="Arial" charset="0"/>
              <a:cs typeface="Arial" charset="0"/>
            </a:endParaRPr>
          </a:p>
        </p:txBody>
      </p:sp>
      <p:sp>
        <p:nvSpPr>
          <p:cNvPr id="4" name="Shape 2"/>
          <p:cNvSpPr/>
          <p:nvPr/>
        </p:nvSpPr>
        <p:spPr>
          <a:xfrm>
            <a:off x="812800" y="4074220"/>
            <a:ext cx="3386634" cy="1767780"/>
          </a:xfrm>
          <a:prstGeom prst="roundRect">
            <a:avLst>
              <a:gd name="adj" fmla="val 5747"/>
            </a:avLst>
          </a:prstGeom>
          <a:solidFill>
            <a:srgbClr val="FFFFFF"/>
          </a:solidFill>
          <a:ln/>
        </p:spPr>
      </p:sp>
      <p:sp>
        <p:nvSpPr>
          <p:cNvPr id="5" name="Text 3"/>
          <p:cNvSpPr/>
          <p:nvPr/>
        </p:nvSpPr>
        <p:spPr>
          <a:xfrm>
            <a:off x="1066800" y="432822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Kein Notruf</a:t>
            </a:r>
            <a:endParaRPr lang="en-US" sz="2000" dirty="0">
              <a:latin typeface="Arial" charset="0"/>
              <a:ea typeface="Arial" charset="0"/>
              <a:cs typeface="Arial" charset="0"/>
            </a:endParaRPr>
          </a:p>
        </p:txBody>
      </p:sp>
      <p:sp>
        <p:nvSpPr>
          <p:cNvPr id="6" name="Text 4"/>
          <p:cNvSpPr/>
          <p:nvPr/>
        </p:nvSpPr>
        <p:spPr>
          <a:xfrm>
            <a:off x="1066800" y="4734620"/>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Anrufe erreichen die Leitstellen nicht mehr.</a:t>
            </a:r>
            <a:endParaRPr lang="en-US" sz="1600" dirty="0">
              <a:latin typeface="Arial" charset="0"/>
              <a:ea typeface="Arial" charset="0"/>
              <a:cs typeface="Arial" charset="0"/>
            </a:endParaRPr>
          </a:p>
        </p:txBody>
      </p:sp>
      <p:sp>
        <p:nvSpPr>
          <p:cNvPr id="7" name="Shape 5"/>
          <p:cNvSpPr/>
          <p:nvPr/>
        </p:nvSpPr>
        <p:spPr>
          <a:xfrm>
            <a:off x="4402634" y="4074220"/>
            <a:ext cx="3386683" cy="1767780"/>
          </a:xfrm>
          <a:prstGeom prst="roundRect">
            <a:avLst>
              <a:gd name="adj" fmla="val 5747"/>
            </a:avLst>
          </a:prstGeom>
          <a:solidFill>
            <a:srgbClr val="FFFFFF"/>
          </a:solidFill>
          <a:ln/>
        </p:spPr>
      </p:sp>
      <p:sp>
        <p:nvSpPr>
          <p:cNvPr id="8" name="Text 6"/>
          <p:cNvSpPr/>
          <p:nvPr/>
        </p:nvSpPr>
        <p:spPr>
          <a:xfrm>
            <a:off x="4656634" y="432822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Lichtinseln</a:t>
            </a:r>
            <a:endParaRPr lang="en-US" sz="2000" dirty="0">
              <a:latin typeface="Arial" charset="0"/>
              <a:ea typeface="Arial" charset="0"/>
              <a:cs typeface="Arial" charset="0"/>
            </a:endParaRPr>
          </a:p>
        </p:txBody>
      </p:sp>
      <p:sp>
        <p:nvSpPr>
          <p:cNvPr id="9" name="Text 7"/>
          <p:cNvSpPr/>
          <p:nvPr/>
        </p:nvSpPr>
        <p:spPr>
          <a:xfrm>
            <a:off x="4656634" y="473462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Anlaufstellen der Religionsgemeinschaften, mit Funk ausgerüstet.</a:t>
            </a:r>
            <a:endParaRPr lang="en-US" sz="1600" dirty="0">
              <a:latin typeface="Arial" charset="0"/>
              <a:ea typeface="Arial" charset="0"/>
              <a:cs typeface="Arial" charset="0"/>
            </a:endParaRPr>
          </a:p>
        </p:txBody>
      </p:sp>
      <p:sp>
        <p:nvSpPr>
          <p:cNvPr id="10" name="Shape 8"/>
          <p:cNvSpPr/>
          <p:nvPr/>
        </p:nvSpPr>
        <p:spPr>
          <a:xfrm>
            <a:off x="7992517" y="4074220"/>
            <a:ext cx="3386683" cy="1767780"/>
          </a:xfrm>
          <a:prstGeom prst="roundRect">
            <a:avLst>
              <a:gd name="adj" fmla="val 5747"/>
            </a:avLst>
          </a:prstGeom>
          <a:solidFill>
            <a:srgbClr val="FFFFFF"/>
          </a:solidFill>
          <a:ln/>
        </p:spPr>
      </p:sp>
      <p:sp>
        <p:nvSpPr>
          <p:cNvPr id="11" name="Text 9"/>
          <p:cNvSpPr/>
          <p:nvPr/>
        </p:nvSpPr>
        <p:spPr>
          <a:xfrm>
            <a:off x="8246517" y="432822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Funkamateure</a:t>
            </a:r>
            <a:endParaRPr lang="en-US" sz="2000" dirty="0">
              <a:latin typeface="Arial" charset="0"/>
              <a:ea typeface="Arial" charset="0"/>
              <a:cs typeface="Arial" charset="0"/>
            </a:endParaRPr>
          </a:p>
        </p:txBody>
      </p:sp>
      <p:sp>
        <p:nvSpPr>
          <p:cNvPr id="12" name="Text 10"/>
          <p:cNvSpPr/>
          <p:nvPr/>
        </p:nvSpPr>
        <p:spPr>
          <a:xfrm>
            <a:off x="8246517" y="473462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Das Notfunkreferat nimmt Meldungen auf und funkt sie weiter.</a:t>
            </a:r>
            <a:endParaRPr lang="en-US" sz="1600" dirty="0">
              <a:latin typeface="Arial" charset="0"/>
              <a:ea typeface="Arial" charset="0"/>
              <a:cs typeface="Arial" charset="0"/>
            </a:endParaRPr>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DIE GRUNDIDEE</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Keine klassische Web-App: offline first</a:t>
            </a:r>
            <a:endParaRPr lang="en-US" sz="3200" dirty="0">
              <a:latin typeface="Arial" charset="0"/>
              <a:ea typeface="Arial" charset="0"/>
              <a:cs typeface="Arial" charset="0"/>
            </a:endParaRPr>
          </a:p>
        </p:txBody>
      </p:sp>
      <p:sp>
        <p:nvSpPr>
          <p:cNvPr id="4" name="Shape 2"/>
          <p:cNvSpPr/>
          <p:nvPr/>
        </p:nvSpPr>
        <p:spPr>
          <a:xfrm>
            <a:off x="812800" y="2522240"/>
            <a:ext cx="3386634" cy="1818580"/>
          </a:xfrm>
          <a:prstGeom prst="roundRect">
            <a:avLst>
              <a:gd name="adj" fmla="val 5587"/>
            </a:avLst>
          </a:prstGeom>
          <a:solidFill>
            <a:srgbClr val="FFFFFF"/>
          </a:solidFill>
          <a:ln/>
        </p:spPr>
      </p:sp>
      <p:sp>
        <p:nvSpPr>
          <p:cNvPr id="5" name="Shape 3"/>
          <p:cNvSpPr/>
          <p:nvPr/>
        </p:nvSpPr>
        <p:spPr>
          <a:xfrm>
            <a:off x="812800" y="2522240"/>
            <a:ext cx="3386634" cy="1818580"/>
          </a:xfrm>
          <a:custGeom>
            <a:avLst/>
            <a:gdLst/>
            <a:ahLst/>
            <a:cxnLst/>
            <a:rect l="l" t="t" r="r" b="b"/>
            <a:pathLst>
              <a:path w="3386634" h="1818580">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6" name="Text 4"/>
          <p:cNvSpPr/>
          <p:nvPr/>
        </p:nvSpPr>
        <p:spPr>
          <a:xfrm>
            <a:off x="1066800" y="282704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Kein Server</a:t>
            </a:r>
            <a:endParaRPr lang="en-US" sz="2000" dirty="0">
              <a:latin typeface="Arial" charset="0"/>
              <a:ea typeface="Arial" charset="0"/>
              <a:cs typeface="Arial" charset="0"/>
            </a:endParaRPr>
          </a:p>
        </p:txBody>
      </p:sp>
      <p:sp>
        <p:nvSpPr>
          <p:cNvPr id="7" name="Text 5"/>
          <p:cNvSpPr/>
          <p:nvPr/>
        </p:nvSpPr>
        <p:spPr>
          <a:xfrm>
            <a:off x="1066800" y="3233440"/>
            <a:ext cx="296499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Alles läuft im Browser auf dem Gerät. Kein Internet, kein Konto, keine Cloud.</a:t>
            </a:r>
            <a:endParaRPr lang="en-US" sz="1600" dirty="0">
              <a:latin typeface="Arial" charset="0"/>
              <a:ea typeface="Arial" charset="0"/>
              <a:cs typeface="Arial" charset="0"/>
            </a:endParaRPr>
          </a:p>
        </p:txBody>
      </p:sp>
      <p:sp>
        <p:nvSpPr>
          <p:cNvPr id="8" name="Shape 6"/>
          <p:cNvSpPr/>
          <p:nvPr/>
        </p:nvSpPr>
        <p:spPr>
          <a:xfrm>
            <a:off x="4402634" y="2522240"/>
            <a:ext cx="3386683" cy="1818580"/>
          </a:xfrm>
          <a:prstGeom prst="roundRect">
            <a:avLst>
              <a:gd name="adj" fmla="val 5587"/>
            </a:avLst>
          </a:prstGeom>
          <a:solidFill>
            <a:srgbClr val="FFFFFF"/>
          </a:solidFill>
          <a:ln/>
        </p:spPr>
      </p:sp>
      <p:sp>
        <p:nvSpPr>
          <p:cNvPr id="9" name="Shape 7"/>
          <p:cNvSpPr/>
          <p:nvPr/>
        </p:nvSpPr>
        <p:spPr>
          <a:xfrm>
            <a:off x="4402634" y="2522240"/>
            <a:ext cx="3386683" cy="1818580"/>
          </a:xfrm>
          <a:custGeom>
            <a:avLst/>
            <a:gdLst/>
            <a:ahLst/>
            <a:cxnLst/>
            <a:rect l="l" t="t" r="r" b="b"/>
            <a:pathLst>
              <a:path w="3386683" h="181858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0" name="Text 8"/>
          <p:cNvSpPr/>
          <p:nvPr/>
        </p:nvSpPr>
        <p:spPr>
          <a:xfrm>
            <a:off x="4656634" y="282704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Kein Abgleich</a:t>
            </a:r>
            <a:endParaRPr lang="en-US" sz="2000" dirty="0">
              <a:latin typeface="Arial" charset="0"/>
              <a:ea typeface="Arial" charset="0"/>
              <a:cs typeface="Arial" charset="0"/>
            </a:endParaRPr>
          </a:p>
        </p:txBody>
      </p:sp>
      <p:sp>
        <p:nvSpPr>
          <p:cNvPr id="11" name="Text 9"/>
          <p:cNvSpPr/>
          <p:nvPr/>
        </p:nvSpPr>
        <p:spPr>
          <a:xfrm>
            <a:off x="4656634" y="323344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Jedes Gerät hat seine eigenen Daten. Nichts wird über das Netz synchronisiert.</a:t>
            </a:r>
            <a:endParaRPr lang="en-US" sz="1600" dirty="0">
              <a:latin typeface="Arial" charset="0"/>
              <a:ea typeface="Arial" charset="0"/>
              <a:cs typeface="Arial" charset="0"/>
            </a:endParaRPr>
          </a:p>
        </p:txBody>
      </p:sp>
      <p:sp>
        <p:nvSpPr>
          <p:cNvPr id="12" name="Shape 10"/>
          <p:cNvSpPr/>
          <p:nvPr/>
        </p:nvSpPr>
        <p:spPr>
          <a:xfrm>
            <a:off x="7992517" y="2522240"/>
            <a:ext cx="3386683" cy="1818580"/>
          </a:xfrm>
          <a:prstGeom prst="roundRect">
            <a:avLst>
              <a:gd name="adj" fmla="val 5587"/>
            </a:avLst>
          </a:prstGeom>
          <a:solidFill>
            <a:srgbClr val="FFFFFF"/>
          </a:solidFill>
          <a:ln/>
        </p:spPr>
      </p:sp>
      <p:sp>
        <p:nvSpPr>
          <p:cNvPr id="13" name="Shape 11"/>
          <p:cNvSpPr/>
          <p:nvPr/>
        </p:nvSpPr>
        <p:spPr>
          <a:xfrm>
            <a:off x="7992517" y="2522240"/>
            <a:ext cx="3386683" cy="1818580"/>
          </a:xfrm>
          <a:custGeom>
            <a:avLst/>
            <a:gdLst/>
            <a:ahLst/>
            <a:cxnLst/>
            <a:rect l="l" t="t" r="r" b="b"/>
            <a:pathLst>
              <a:path w="3386683" h="181858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4" name="Text 12"/>
          <p:cNvSpPr/>
          <p:nvPr/>
        </p:nvSpPr>
        <p:spPr>
          <a:xfrm>
            <a:off x="8246517" y="282704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Offline zuerst</a:t>
            </a:r>
            <a:endParaRPr lang="en-US" sz="2000" dirty="0">
              <a:latin typeface="Arial" charset="0"/>
              <a:ea typeface="Arial" charset="0"/>
              <a:cs typeface="Arial" charset="0"/>
            </a:endParaRPr>
          </a:p>
        </p:txBody>
      </p:sp>
      <p:sp>
        <p:nvSpPr>
          <p:cNvPr id="15" name="Text 13"/>
          <p:cNvSpPr/>
          <p:nvPr/>
        </p:nvSpPr>
        <p:spPr>
          <a:xfrm>
            <a:off x="8246517" y="323344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Strom und ein Rechner genügen. Danach kommt nur noch Papier.</a:t>
            </a:r>
            <a:endParaRPr lang="en-US" sz="1600" dirty="0">
              <a:latin typeface="Arial" charset="0"/>
              <a:ea typeface="Arial" charset="0"/>
              <a:cs typeface="Arial" charset="0"/>
            </a:endParaRPr>
          </a:p>
        </p:txBody>
      </p:sp>
      <p:sp>
        <p:nvSpPr>
          <p:cNvPr id="16" name="Text 14"/>
          <p:cNvSpPr/>
          <p:nvPr/>
        </p:nvSpPr>
        <p:spPr>
          <a:xfrm>
            <a:off x="812800" y="52324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Der Weg einer Meldung ist der Funk, nicht das Netzwerk.</a:t>
            </a:r>
            <a:endParaRPr lang="en-US" sz="1600" dirty="0">
              <a:latin typeface="Arial" charset="0"/>
              <a:ea typeface="Arial" charset="0"/>
              <a:cs typeface="Arial" charset="0"/>
            </a:endParaRPr>
          </a:p>
        </p:txBody>
      </p:sp>
      <p:sp>
        <p:nvSpPr>
          <p:cNvPr id="17" name="Text 15"/>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Papier ist die letzte Rückfallebene. Ein lokales Netz und ein Drucker sind sinnvoll, aber keine Voraussetzung.</a:t>
            </a:r>
            <a:endParaRPr lang="en-US" sz="1400" dirty="0">
              <a:latin typeface="Arial" charset="0"/>
              <a:ea typeface="Arial" charset="0"/>
              <a:cs typeface="Arial" charset="0"/>
            </a:endParaRPr>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p:txBody>
      </p:sp>
      <p:sp>
        <p:nvSpPr>
          <p:cNvPr id="4" name="Text 2"/>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Im Browser, offline, als App</a:t>
            </a:r>
            <a:endParaRPr lang="en-US" sz="3200" dirty="0">
              <a:latin typeface="Arial" charset="0"/>
              <a:ea typeface="Arial" charset="0"/>
              <a:cs typeface="Arial" charset="0"/>
            </a:endParaRPr>
          </a:p>
        </p:txBody>
      </p:sp>
      <p:sp>
        <p:nvSpPr>
          <p:cNvPr id="5" name="Shape 3"/>
          <p:cNvSpPr/>
          <p:nvPr/>
        </p:nvSpPr>
        <p:spPr>
          <a:xfrm>
            <a:off x="812800" y="2114550"/>
            <a:ext cx="3386634" cy="2317750"/>
          </a:xfrm>
          <a:prstGeom prst="roundRect">
            <a:avLst>
              <a:gd name="adj" fmla="val 4384"/>
            </a:avLst>
          </a:prstGeom>
          <a:solidFill>
            <a:srgbClr val="FFFFFF"/>
          </a:solidFill>
          <a:ln/>
        </p:spPr>
      </p:sp>
      <p:sp>
        <p:nvSpPr>
          <p:cNvPr id="6" name="Shape 4"/>
          <p:cNvSpPr/>
          <p:nvPr/>
        </p:nvSpPr>
        <p:spPr>
          <a:xfrm>
            <a:off x="812800" y="2114550"/>
            <a:ext cx="3386634" cy="2317750"/>
          </a:xfrm>
          <a:custGeom>
            <a:avLst/>
            <a:gdLst/>
            <a:ahLst/>
            <a:cxnLst/>
            <a:rect l="l" t="t" r="r" b="b"/>
            <a:pathLst>
              <a:path w="3386634" h="2317750">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7" name="Text 5"/>
          <p:cNvSpPr/>
          <p:nvPr/>
        </p:nvSpPr>
        <p:spPr>
          <a:xfrm>
            <a:off x="1041400" y="2393950"/>
            <a:ext cx="30173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1 · Öffnen</a:t>
            </a:r>
            <a:endParaRPr lang="en-US" sz="2000" dirty="0">
              <a:latin typeface="Arial" charset="0"/>
              <a:ea typeface="Arial" charset="0"/>
              <a:cs typeface="Arial" charset="0"/>
            </a:endParaRPr>
          </a:p>
        </p:txBody>
      </p:sp>
      <p:sp>
        <p:nvSpPr>
          <p:cNvPr id="8" name="Text 6"/>
          <p:cNvSpPr/>
          <p:nvPr/>
        </p:nvSpPr>
        <p:spPr>
          <a:xfrm>
            <a:off x="1041400" y="2800350"/>
            <a:ext cx="301731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Einmal mit Internet im Browser öffnen, bis „offline bereit ✓“ erscheint.</a:t>
            </a:r>
            <a:endParaRPr lang="en-US" sz="1600" dirty="0">
              <a:latin typeface="Arial" charset="0"/>
              <a:ea typeface="Arial" charset="0"/>
              <a:cs typeface="Arial" charset="0"/>
            </a:endParaRPr>
          </a:p>
        </p:txBody>
      </p:sp>
      <p:sp>
        <p:nvSpPr>
          <p:cNvPr id="9" name="Shape 7"/>
          <p:cNvSpPr/>
          <p:nvPr/>
        </p:nvSpPr>
        <p:spPr>
          <a:xfrm>
            <a:off x="4402634" y="2114550"/>
            <a:ext cx="3386683" cy="2317750"/>
          </a:xfrm>
          <a:prstGeom prst="roundRect">
            <a:avLst>
              <a:gd name="adj" fmla="val 4384"/>
            </a:avLst>
          </a:prstGeom>
          <a:solidFill>
            <a:srgbClr val="FFFFFF"/>
          </a:solidFill>
          <a:ln/>
        </p:spPr>
      </p:sp>
      <p:sp>
        <p:nvSpPr>
          <p:cNvPr id="10" name="Shape 8"/>
          <p:cNvSpPr/>
          <p:nvPr/>
        </p:nvSpPr>
        <p:spPr>
          <a:xfrm>
            <a:off x="4402634" y="2114550"/>
            <a:ext cx="3386683" cy="2317750"/>
          </a:xfrm>
          <a:custGeom>
            <a:avLst/>
            <a:gdLst/>
            <a:ahLst/>
            <a:cxnLst/>
            <a:rect l="l" t="t" r="r" b="b"/>
            <a:pathLst>
              <a:path w="3386683" h="231775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1" name="Text 9"/>
          <p:cNvSpPr/>
          <p:nvPr/>
        </p:nvSpPr>
        <p:spPr>
          <a:xfrm>
            <a:off x="4631234" y="2393950"/>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2 · Installieren</a:t>
            </a:r>
            <a:endParaRPr lang="en-US" sz="2000" dirty="0">
              <a:latin typeface="Arial" charset="0"/>
              <a:ea typeface="Arial" charset="0"/>
              <a:cs typeface="Arial" charset="0"/>
            </a:endParaRPr>
          </a:p>
        </p:txBody>
      </p:sp>
      <p:sp>
        <p:nvSpPr>
          <p:cNvPr id="12" name="Text 10"/>
          <p:cNvSpPr/>
          <p:nvPr/>
        </p:nvSpPr>
        <p:spPr>
          <a:xfrm>
            <a:off x="4631234" y="2800350"/>
            <a:ext cx="30173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Symbol in der Adresszeile</a:t>
            </a:r>
            <a:endParaRPr lang="en-US" sz="1600" dirty="0">
              <a:latin typeface="Arial" charset="0"/>
              <a:ea typeface="Arial" charset="0"/>
              <a:cs typeface="Arial" charset="0"/>
            </a:endParaRPr>
          </a:p>
        </p:txBody>
      </p:sp>
      <p:sp>
        <p:nvSpPr>
          <p:cNvPr id="13" name="Shape 11"/>
          <p:cNvSpPr/>
          <p:nvPr/>
        </p:nvSpPr>
        <p:spPr>
          <a:xfrm>
            <a:off x="7992517" y="2114550"/>
            <a:ext cx="3386683" cy="2317750"/>
          </a:xfrm>
          <a:prstGeom prst="roundRect">
            <a:avLst>
              <a:gd name="adj" fmla="val 4384"/>
            </a:avLst>
          </a:prstGeom>
          <a:solidFill>
            <a:srgbClr val="FFFFFF"/>
          </a:solidFill>
          <a:ln/>
        </p:spPr>
      </p:sp>
      <p:sp>
        <p:nvSpPr>
          <p:cNvPr id="14" name="Shape 12"/>
          <p:cNvSpPr/>
          <p:nvPr/>
        </p:nvSpPr>
        <p:spPr>
          <a:xfrm>
            <a:off x="7992517" y="2114550"/>
            <a:ext cx="3386683" cy="2317750"/>
          </a:xfrm>
          <a:custGeom>
            <a:avLst/>
            <a:gdLst/>
            <a:ahLst/>
            <a:cxnLst/>
            <a:rect l="l" t="t" r="r" b="b"/>
            <a:pathLst>
              <a:path w="3386683" h="231775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5" name="Text 13"/>
          <p:cNvSpPr/>
          <p:nvPr/>
        </p:nvSpPr>
        <p:spPr>
          <a:xfrm>
            <a:off x="8221117" y="2393950"/>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3 · Starten</a:t>
            </a:r>
            <a:endParaRPr lang="en-US" sz="2000" dirty="0">
              <a:latin typeface="Arial" charset="0"/>
              <a:ea typeface="Arial" charset="0"/>
              <a:cs typeface="Arial" charset="0"/>
            </a:endParaRPr>
          </a:p>
        </p:txBody>
      </p:sp>
      <p:pic>
        <p:nvPicPr>
          <p:cNvPr id="16" name="Image 0" descr="Symbol der Notfunk-Meldebuch-App">    </p:cNvPr>
          <p:cNvPicPr>
            <a:picLocks noChangeAspect="1"/>
          </p:cNvPicPr>
          <p:nvPr/>
        </p:nvPicPr>
        <p:blipFill>
          <a:blip r:embed="rId1"/>
          <a:srcRect l="0" r="0" t="0" b="0"/>
          <a:stretch/>
        </p:blipFill>
        <p:spPr>
          <a:xfrm>
            <a:off x="9177834" y="2800350"/>
            <a:ext cx="1016000" cy="1016000"/>
          </a:xfrm>
          <a:prstGeom prst="roundRect">
            <a:avLst>
              <a:gd name="adj" fmla="val 20000"/>
            </a:avLst>
          </a:prstGeom>
        </p:spPr>
      </p:pic>
      <p:sp>
        <p:nvSpPr>
          <p:cNvPr id="17" name="Text 14"/>
          <p:cNvSpPr/>
          <p:nvPr/>
        </p:nvSpPr>
        <p:spPr>
          <a:xfrm>
            <a:off x="8221117" y="3917950"/>
            <a:ext cx="30173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Über das App-Symbol</a:t>
            </a:r>
            <a:endParaRPr lang="en-US" sz="1600" dirty="0">
              <a:latin typeface="Arial" charset="0"/>
              <a:ea typeface="Arial" charset="0"/>
              <a:cs typeface="Arial" charset="0"/>
            </a:endParaRPr>
          </a:p>
        </p:txBody>
      </p:sp>
      <p:sp>
        <p:nvSpPr>
          <p:cNvPr id="18" name="Text 15"/>
          <p:cNvSpPr/>
          <p:nvPr/>
        </p:nvSpPr>
        <p:spPr>
          <a:xfrm>
            <a:off x="812800" y="52705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Arial" pitchFamily="34" charset="0"/>
                <a:ea typeface="Arial" pitchFamily="34" charset="-122"/>
                <a:cs typeface="Arial" pitchFamily="34" charset="-120"/>
              </a:rPr>
              <a:t>Nur die Adresse im Browser öffnen genügt nicht.</a:t>
            </a:r>
            <a:r>
              <a:rPr lang="en-US" sz="1400" dirty="0">
                <a:solidFill>
                  <a:srgbClr val="14202B"/>
                </a:solidFill>
                <a:latin typeface="Arial" pitchFamily="34" charset="0"/>
                <a:ea typeface="Arial" pitchFamily="34" charset="-122"/>
                <a:cs typeface="Arial" pitchFamily="34" charset="-120"/>
              </a:rPr>
              <a:t> Nach einem Neustart kann der Browser die Seite ohne Netz verlieren.</a:t>
            </a:r>
            <a:endParaRPr lang="en-US" sz="1400" dirty="0">
              <a:latin typeface="Arial" charset="0"/>
              <a:ea typeface="Arial" charset="0"/>
              <a:cs typeface="Arial" charset="0"/>
            </a:endParaRPr>
          </a:p>
        </p:txBody>
      </p:sp>
      <p:sp>
        <p:nvSpPr>
          <p:cNvPr id="19" name="Text 16"/>
          <p:cNvSpPr/>
          <p:nvPr/>
        </p:nvSpPr>
        <p:spPr>
          <a:xfrm>
            <a:off x="812800" y="55955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Zweiter Weg: die Offline-Datei (eine HTML-Datei, etwa 7 MB) für den USB-Stick. Sie hat getrennte Daten von der App.</a:t>
            </a:r>
            <a:endParaRPr lang="en-US" sz="1400" dirty="0">
              <a:latin typeface="Arial" charset="0"/>
              <a:ea typeface="Arial" charset="0"/>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Der Weg einer Meldung</a:t>
            </a:r>
            <a:endParaRPr lang="en-US" sz="3200" dirty="0">
              <a:latin typeface="Arial" charset="0"/>
              <a:ea typeface="Arial" charset="0"/>
              <a:cs typeface="Arial" charset="0"/>
            </a:endParaRPr>
          </a:p>
        </p:txBody>
      </p:sp>
      <p:sp>
        <p:nvSpPr>
          <p:cNvPr id="3" name="Text 1"/>
          <p:cNvSpPr/>
          <p:nvPr/>
        </p:nvSpPr>
        <p:spPr>
          <a:xfrm>
            <a:off x="654304" y="1554063"/>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02B"/>
                </a:solidFill>
                <a:latin typeface="Arial" pitchFamily="34" charset="0"/>
                <a:ea typeface="Arial" pitchFamily="34" charset="-122"/>
                <a:cs typeface="Arial" pitchFamily="34" charset="-120"/>
              </a:rPr>
              <a:t>„Wir brauchen Hilfe!“</a:t>
            </a:r>
            <a:endParaRPr lang="en-US" sz="1600" dirty="0">
              <a:latin typeface="Arial" charset="0"/>
              <a:ea typeface="Arial" charset="0"/>
              <a:cs typeface="Arial" charset="0"/>
            </a:endParaRPr>
          </a:p>
        </p:txBody>
      </p:sp>
      <p:pic>
        <p:nvPicPr>
          <p:cNvPr id="4" name="Image 0" descr="Pfeil von links nach rechts: der Weg der Meldung">    </p:cNvPr>
          <p:cNvPicPr>
            <a:picLocks noChangeAspect="1"/>
          </p:cNvPicPr>
          <p:nvPr/>
        </p:nvPicPr>
        <p:blipFill>
          <a:blip r:embed="rId1"/>
          <a:srcRect l="-781" r="-781" t="0" b="0"/>
          <a:stretch/>
        </p:blipFill>
        <p:spPr>
          <a:xfrm>
            <a:off x="812800" y="2112466"/>
            <a:ext cx="10566400" cy="152400"/>
          </a:xfrm>
          <a:prstGeom prst="rect">
            <a:avLst/>
          </a:prstGeom>
        </p:spPr>
      </p:pic>
      <p:sp>
        <p:nvSpPr>
          <p:cNvPr id="5" name="Shape 2"/>
          <p:cNvSpPr/>
          <p:nvPr/>
        </p:nvSpPr>
        <p:spPr>
          <a:xfrm>
            <a:off x="822325" y="2548334"/>
            <a:ext cx="1964680" cy="1372741"/>
          </a:xfrm>
          <a:prstGeom prst="roundRect">
            <a:avLst>
              <a:gd name="adj" fmla="val 4857"/>
            </a:avLst>
          </a:prstGeom>
          <a:solidFill>
            <a:srgbClr val="808080">
              <a:alpha val="8000"/>
            </a:srgbClr>
          </a:solidFill>
          <a:ln w="19050">
            <a:solidFill>
              <a:srgbClr val="808080"/>
            </a:solidFill>
            <a:prstDash val="dash"/>
          </a:ln>
        </p:spPr>
      </p:sp>
      <p:sp>
        <p:nvSpPr>
          <p:cNvPr id="6" name="Text 3"/>
          <p:cNvSpPr/>
          <p:nvPr/>
        </p:nvSpPr>
        <p:spPr>
          <a:xfrm>
            <a:off x="854990" y="268485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Hilfesuchende</a:t>
            </a:r>
            <a:endParaRPr lang="en-US" sz="1200" dirty="0">
              <a:latin typeface="Arial" charset="0"/>
              <a:ea typeface="Arial" charset="0"/>
              <a:cs typeface="Arial" charset="0"/>
            </a:endParaRPr>
          </a:p>
        </p:txBody>
      </p:sp>
      <p:sp>
        <p:nvSpPr>
          <p:cNvPr id="7" name="Text 4"/>
          <p:cNvSpPr/>
          <p:nvPr/>
        </p:nvSpPr>
        <p:spPr>
          <a:xfrm>
            <a:off x="854990" y="293122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Arial" pitchFamily="34" charset="0"/>
                <a:ea typeface="Arial" pitchFamily="34" charset="-122"/>
                <a:cs typeface="Arial" pitchFamily="34" charset="-120"/>
              </a:rPr>
              <a:t>Bürgerinnen und Bürger</a:t>
            </a:r>
            <a:endParaRPr lang="en-US" sz="1200" dirty="0">
              <a:latin typeface="Arial" charset="0"/>
              <a:ea typeface="Arial" charset="0"/>
              <a:cs typeface="Arial" charset="0"/>
            </a:endParaRPr>
          </a:p>
        </p:txBody>
      </p:sp>
      <p:sp>
        <p:nvSpPr>
          <p:cNvPr id="8" name="Text 5"/>
          <p:cNvSpPr/>
          <p:nvPr/>
        </p:nvSpPr>
        <p:spPr>
          <a:xfrm>
            <a:off x="854990" y="319281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Arial" pitchFamily="34" charset="0"/>
                <a:ea typeface="Arial" pitchFamily="34" charset="-122"/>
                <a:cs typeface="Arial" pitchFamily="34" charset="-120"/>
              </a:rPr>
              <a:t>kein Funkamateur</a:t>
            </a:r>
            <a:endParaRPr lang="en-US" sz="1200" dirty="0">
              <a:latin typeface="Arial" charset="0"/>
              <a:ea typeface="Arial" charset="0"/>
              <a:cs typeface="Arial" charset="0"/>
            </a:endParaRPr>
          </a:p>
        </p:txBody>
      </p:sp>
      <p:sp>
        <p:nvSpPr>
          <p:cNvPr id="9" name="Shape 6"/>
          <p:cNvSpPr/>
          <p:nvPr/>
        </p:nvSpPr>
        <p:spPr>
          <a:xfrm>
            <a:off x="2961630" y="2551509"/>
            <a:ext cx="1971080" cy="1366391"/>
          </a:xfrm>
          <a:prstGeom prst="roundRect">
            <a:avLst>
              <a:gd name="adj" fmla="val 4647"/>
            </a:avLst>
          </a:prstGeom>
          <a:solidFill>
            <a:srgbClr val="3A7FC1">
              <a:alpha val="16000"/>
            </a:srgbClr>
          </a:solidFill>
          <a:ln w="25400">
            <a:solidFill>
              <a:srgbClr val="3A7FC1"/>
            </a:solidFill>
            <a:prstDash val="solid"/>
          </a:ln>
        </p:spPr>
      </p:sp>
      <p:sp>
        <p:nvSpPr>
          <p:cNvPr id="10" name="Text 7"/>
          <p:cNvSpPr/>
          <p:nvPr/>
        </p:nvSpPr>
        <p:spPr>
          <a:xfrm>
            <a:off x="2997469" y="2691209"/>
            <a:ext cx="1899402"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Lichtinsel</a:t>
            </a:r>
            <a:endParaRPr lang="en-US" sz="1200" dirty="0">
              <a:latin typeface="Arial" charset="0"/>
              <a:ea typeface="Arial" charset="0"/>
              <a:cs typeface="Arial" charset="0"/>
            </a:endParaRPr>
          </a:p>
        </p:txBody>
      </p:sp>
      <p:sp>
        <p:nvSpPr>
          <p:cNvPr id="11" name="Text 8"/>
          <p:cNvSpPr/>
          <p:nvPr/>
        </p:nvSpPr>
        <p:spPr>
          <a:xfrm>
            <a:off x="2997469" y="2937570"/>
            <a:ext cx="1899402"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Arial" pitchFamily="34" charset="0"/>
                <a:ea typeface="Arial" pitchFamily="34" charset="-122"/>
                <a:cs typeface="Arial" pitchFamily="34" charset="-120"/>
              </a:rPr>
              <a:t>Funkamateur nimmt den Wortlaut auf</a:t>
            </a:r>
            <a:endParaRPr lang="en-US" sz="1200" dirty="0">
              <a:latin typeface="Arial" charset="0"/>
              <a:ea typeface="Arial" charset="0"/>
              <a:cs typeface="Arial" charset="0"/>
            </a:endParaRPr>
          </a:p>
        </p:txBody>
      </p:sp>
      <p:sp>
        <p:nvSpPr>
          <p:cNvPr id="12" name="Text 9"/>
          <p:cNvSpPr/>
          <p:nvPr/>
        </p:nvSpPr>
        <p:spPr>
          <a:xfrm>
            <a:off x="2997469" y="3397250"/>
            <a:ext cx="1899402"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Arial" pitchFamily="34" charset="0"/>
                <a:ea typeface="Arial" pitchFamily="34" charset="-122"/>
                <a:cs typeface="Arial" pitchFamily="34" charset="-120"/>
              </a:rPr>
              <a:t>Eingang ↓</a:t>
            </a:r>
            <a:endParaRPr lang="en-US" sz="1200" dirty="0">
              <a:latin typeface="Arial" charset="0"/>
              <a:ea typeface="Arial" charset="0"/>
              <a:cs typeface="Arial" charset="0"/>
            </a:endParaRPr>
          </a:p>
        </p:txBody>
      </p:sp>
      <p:sp>
        <p:nvSpPr>
          <p:cNvPr id="13" name="Shape 10"/>
          <p:cNvSpPr/>
          <p:nvPr/>
        </p:nvSpPr>
        <p:spPr>
          <a:xfrm>
            <a:off x="5110510" y="2551509"/>
            <a:ext cx="1971030" cy="1366391"/>
          </a:xfrm>
          <a:prstGeom prst="roundRect">
            <a:avLst>
              <a:gd name="adj" fmla="val 4647"/>
            </a:avLst>
          </a:prstGeom>
          <a:solidFill>
            <a:srgbClr val="D4680F">
              <a:alpha val="16000"/>
            </a:srgbClr>
          </a:solidFill>
          <a:ln w="25400">
            <a:solidFill>
              <a:srgbClr val="D4680F"/>
            </a:solidFill>
            <a:prstDash val="solid"/>
          </a:ln>
        </p:spPr>
      </p:sp>
      <p:sp>
        <p:nvSpPr>
          <p:cNvPr id="14" name="Text 11"/>
          <p:cNvSpPr/>
          <p:nvPr/>
        </p:nvSpPr>
        <p:spPr>
          <a:xfrm>
            <a:off x="5146349" y="2691209"/>
            <a:ext cx="1899351"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K-Vorsorge-</a:t>
            </a:r>
            <a:endParaRPr lang="en-US" sz="1200" dirty="0">
              <a:latin typeface="Arial" charset="0"/>
              <a:ea typeface="Arial" charset="0"/>
              <a:cs typeface="Arial" charset="0"/>
            </a:endParaRPr>
          </a:p>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standort</a:t>
            </a:r>
            <a:endParaRPr lang="en-US" sz="1200" dirty="0">
              <a:latin typeface="Arial" charset="0"/>
              <a:ea typeface="Arial" charset="0"/>
              <a:cs typeface="Arial" charset="0"/>
            </a:endParaRPr>
          </a:p>
        </p:txBody>
      </p:sp>
      <p:sp>
        <p:nvSpPr>
          <p:cNvPr id="15" name="Text 12"/>
          <p:cNvSpPr/>
          <p:nvPr/>
        </p:nvSpPr>
        <p:spPr>
          <a:xfrm>
            <a:off x="5146349" y="312043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Arial" pitchFamily="34" charset="0"/>
                <a:ea typeface="Arial" pitchFamily="34" charset="-122"/>
                <a:cs typeface="Arial" pitchFamily="34" charset="-120"/>
              </a:rPr>
              <a:t>Funkamateur gibt die Meldung weiter</a:t>
            </a:r>
            <a:endParaRPr lang="en-US" sz="1200" dirty="0">
              <a:latin typeface="Arial" charset="0"/>
              <a:ea typeface="Arial" charset="0"/>
              <a:cs typeface="Arial" charset="0"/>
            </a:endParaRPr>
          </a:p>
        </p:txBody>
      </p:sp>
      <p:sp>
        <p:nvSpPr>
          <p:cNvPr id="16" name="Text 13"/>
          <p:cNvSpPr/>
          <p:nvPr/>
        </p:nvSpPr>
        <p:spPr>
          <a:xfrm>
            <a:off x="5146349" y="358011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Arial" pitchFamily="34" charset="0"/>
                <a:ea typeface="Arial" pitchFamily="34" charset="-122"/>
                <a:cs typeface="Arial" pitchFamily="34" charset="-120"/>
              </a:rPr>
              <a:t>Weitergabe ↔</a:t>
            </a:r>
            <a:endParaRPr lang="en-US" sz="1200" dirty="0">
              <a:latin typeface="Arial" charset="0"/>
              <a:ea typeface="Arial" charset="0"/>
              <a:cs typeface="Arial" charset="0"/>
            </a:endParaRPr>
          </a:p>
        </p:txBody>
      </p:sp>
      <p:sp>
        <p:nvSpPr>
          <p:cNvPr id="17" name="Shape 14"/>
          <p:cNvSpPr/>
          <p:nvPr/>
        </p:nvSpPr>
        <p:spPr>
          <a:xfrm>
            <a:off x="7259340" y="2551509"/>
            <a:ext cx="1971030" cy="1366391"/>
          </a:xfrm>
          <a:prstGeom prst="roundRect">
            <a:avLst>
              <a:gd name="adj" fmla="val 4647"/>
            </a:avLst>
          </a:prstGeom>
          <a:solidFill>
            <a:srgbClr val="3D9A4F">
              <a:alpha val="16000"/>
            </a:srgbClr>
          </a:solidFill>
          <a:ln w="25400">
            <a:solidFill>
              <a:srgbClr val="3D9A4F"/>
            </a:solidFill>
            <a:prstDash val="solid"/>
          </a:ln>
        </p:spPr>
      </p:sp>
      <p:sp>
        <p:nvSpPr>
          <p:cNvPr id="18" name="Text 15"/>
          <p:cNvSpPr/>
          <p:nvPr/>
        </p:nvSpPr>
        <p:spPr>
          <a:xfrm>
            <a:off x="7295179" y="269120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Funkstelle der ELS</a:t>
            </a:r>
            <a:endParaRPr lang="en-US" sz="1200" dirty="0">
              <a:latin typeface="Arial" charset="0"/>
              <a:ea typeface="Arial" charset="0"/>
              <a:cs typeface="Arial" charset="0"/>
            </a:endParaRPr>
          </a:p>
        </p:txBody>
      </p:sp>
      <p:sp>
        <p:nvSpPr>
          <p:cNvPr id="19" name="Text 16"/>
          <p:cNvSpPr/>
          <p:nvPr/>
        </p:nvSpPr>
        <p:spPr>
          <a:xfrm>
            <a:off x="7295179" y="293757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Arial" pitchFamily="34" charset="0"/>
                <a:ea typeface="Arial" pitchFamily="34" charset="-122"/>
                <a:cs typeface="Arial" pitchFamily="34" charset="-120"/>
              </a:rPr>
              <a:t>Funkamateur übergibt an die Meldesammelstelle</a:t>
            </a:r>
            <a:endParaRPr lang="en-US" sz="1200" dirty="0">
              <a:latin typeface="Arial" charset="0"/>
              <a:ea typeface="Arial" charset="0"/>
              <a:cs typeface="Arial" charset="0"/>
            </a:endParaRPr>
          </a:p>
        </p:txBody>
      </p:sp>
      <p:sp>
        <p:nvSpPr>
          <p:cNvPr id="20" name="Text 17"/>
          <p:cNvSpPr/>
          <p:nvPr/>
        </p:nvSpPr>
        <p:spPr>
          <a:xfrm>
            <a:off x="7295179" y="339725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Arial" pitchFamily="34" charset="0"/>
                <a:ea typeface="Arial" pitchFamily="34" charset="-122"/>
                <a:cs typeface="Arial" pitchFamily="34" charset="-120"/>
              </a:rPr>
              <a:t>Ausgang ↑</a:t>
            </a:r>
            <a:endParaRPr lang="en-US" sz="1200" dirty="0">
              <a:latin typeface="Arial" charset="0"/>
              <a:ea typeface="Arial" charset="0"/>
              <a:cs typeface="Arial" charset="0"/>
            </a:endParaRPr>
          </a:p>
        </p:txBody>
      </p:sp>
      <p:sp>
        <p:nvSpPr>
          <p:cNvPr id="21" name="Shape 18"/>
          <p:cNvSpPr/>
          <p:nvPr/>
        </p:nvSpPr>
        <p:spPr>
          <a:xfrm>
            <a:off x="9404995" y="2548334"/>
            <a:ext cx="1964680" cy="1372741"/>
          </a:xfrm>
          <a:prstGeom prst="roundRect">
            <a:avLst>
              <a:gd name="adj" fmla="val 4857"/>
            </a:avLst>
          </a:prstGeom>
          <a:solidFill>
            <a:srgbClr val="9A6BC0">
              <a:alpha val="8000"/>
            </a:srgbClr>
          </a:solidFill>
          <a:ln w="19050">
            <a:solidFill>
              <a:srgbClr val="9A6BC0"/>
            </a:solidFill>
            <a:prstDash val="dash"/>
          </a:ln>
        </p:spPr>
      </p:sp>
      <p:sp>
        <p:nvSpPr>
          <p:cNvPr id="22" name="Text 19"/>
          <p:cNvSpPr/>
          <p:nvPr/>
        </p:nvSpPr>
        <p:spPr>
          <a:xfrm>
            <a:off x="9437659" y="268485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Arial" pitchFamily="34" charset="0"/>
                <a:ea typeface="Arial" pitchFamily="34" charset="-122"/>
                <a:cs typeface="Arial" pitchFamily="34" charset="-120"/>
              </a:rPr>
              <a:t>Meldesammelstelle</a:t>
            </a:r>
            <a:endParaRPr lang="en-US" sz="1200" dirty="0">
              <a:latin typeface="Arial" charset="0"/>
              <a:ea typeface="Arial" charset="0"/>
              <a:cs typeface="Arial" charset="0"/>
            </a:endParaRPr>
          </a:p>
        </p:txBody>
      </p:sp>
      <p:sp>
        <p:nvSpPr>
          <p:cNvPr id="23" name="Text 20"/>
          <p:cNvSpPr/>
          <p:nvPr/>
        </p:nvSpPr>
        <p:spPr>
          <a:xfrm>
            <a:off x="9437659" y="293122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Arial" pitchFamily="34" charset="0"/>
                <a:ea typeface="Arial" pitchFamily="34" charset="-122"/>
                <a:cs typeface="Arial" pitchFamily="34" charset="-120"/>
              </a:rPr>
              <a:t>Kriseneinsatzstab vergibt die Referenz</a:t>
            </a:r>
            <a:endParaRPr lang="en-US" sz="1200" dirty="0">
              <a:latin typeface="Arial" charset="0"/>
              <a:ea typeface="Arial" charset="0"/>
              <a:cs typeface="Arial" charset="0"/>
            </a:endParaRPr>
          </a:p>
        </p:txBody>
      </p:sp>
      <p:sp>
        <p:nvSpPr>
          <p:cNvPr id="24" name="Text 21"/>
          <p:cNvSpPr/>
          <p:nvPr/>
        </p:nvSpPr>
        <p:spPr>
          <a:xfrm>
            <a:off x="9437659" y="339090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Arial" pitchFamily="34" charset="0"/>
                <a:ea typeface="Arial" pitchFamily="34" charset="-122"/>
                <a:cs typeface="Arial" pitchFamily="34" charset="-120"/>
              </a:rPr>
              <a:t>kein Funkamateur</a:t>
            </a:r>
            <a:endParaRPr lang="en-US" sz="1200" dirty="0">
              <a:latin typeface="Arial" charset="0"/>
              <a:ea typeface="Arial" charset="0"/>
              <a:cs typeface="Arial" charset="0"/>
            </a:endParaRPr>
          </a:p>
        </p:txBody>
      </p:sp>
      <p:pic>
        <p:nvPicPr>
          <p:cNvPr id="25" name="Image 1" descr="Pfeil von rechts nach links: der Rückweg der Antwort">    </p:cNvPr>
          <p:cNvPicPr>
            <a:picLocks noChangeAspect="1"/>
          </p:cNvPicPr>
          <p:nvPr/>
        </p:nvPicPr>
        <p:blipFill>
          <a:blip r:embed="rId2"/>
          <a:srcRect l="-781" r="-781" t="0" b="0"/>
          <a:stretch/>
        </p:blipFill>
        <p:spPr>
          <a:xfrm>
            <a:off x="812800" y="4204494"/>
            <a:ext cx="10566400" cy="152400"/>
          </a:xfrm>
          <a:prstGeom prst="rect">
            <a:avLst/>
          </a:prstGeom>
        </p:spPr>
      </p:pic>
      <p:sp>
        <p:nvSpPr>
          <p:cNvPr id="26" name="Text 22"/>
          <p:cNvSpPr/>
          <p:nvPr/>
        </p:nvSpPr>
        <p:spPr>
          <a:xfrm>
            <a:off x="654304" y="4630837"/>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02B"/>
                </a:solidFill>
                <a:latin typeface="Arial" pitchFamily="34" charset="0"/>
                <a:ea typeface="Arial" pitchFamily="34" charset="-122"/>
                <a:cs typeface="Arial" pitchFamily="34" charset="-120"/>
              </a:rPr>
              <a:t>„Hilfe ist unterwegs“</a:t>
            </a:r>
            <a:endParaRPr lang="en-US" sz="1600" dirty="0">
              <a:latin typeface="Arial" charset="0"/>
              <a:ea typeface="Arial" charset="0"/>
              <a:cs typeface="Arial" charset="0"/>
            </a:endParaRPr>
          </a:p>
        </p:txBody>
      </p:sp>
      <p:sp>
        <p:nvSpPr>
          <p:cNvPr id="27" name="Shape 23"/>
          <p:cNvSpPr/>
          <p:nvPr/>
        </p:nvSpPr>
        <p:spPr>
          <a:xfrm>
            <a:off x="9223375" y="5189240"/>
            <a:ext cx="0" cy="127000"/>
          </a:xfrm>
          <a:prstGeom prst="line">
            <a:avLst/>
          </a:prstGeom>
          <a:noFill/>
          <a:ln w="19050">
            <a:solidFill>
              <a:srgbClr val="14202B"/>
            </a:solidFill>
            <a:prstDash val="solid"/>
          </a:ln>
        </p:spPr>
      </p:sp>
      <p:sp>
        <p:nvSpPr>
          <p:cNvPr id="28" name="Shape 24"/>
          <p:cNvSpPr/>
          <p:nvPr/>
        </p:nvSpPr>
        <p:spPr>
          <a:xfrm>
            <a:off x="2959100" y="5306715"/>
            <a:ext cx="6273800" cy="0"/>
          </a:xfrm>
          <a:prstGeom prst="line">
            <a:avLst/>
          </a:prstGeom>
          <a:noFill/>
          <a:ln w="19050">
            <a:solidFill>
              <a:srgbClr val="14202B"/>
            </a:solidFill>
            <a:prstDash val="solid"/>
          </a:ln>
        </p:spPr>
      </p:sp>
      <p:sp>
        <p:nvSpPr>
          <p:cNvPr id="29" name="Shape 25"/>
          <p:cNvSpPr/>
          <p:nvPr/>
        </p:nvSpPr>
        <p:spPr>
          <a:xfrm>
            <a:off x="2968625" y="5189240"/>
            <a:ext cx="0" cy="127000"/>
          </a:xfrm>
          <a:prstGeom prst="line">
            <a:avLst/>
          </a:prstGeom>
          <a:noFill/>
          <a:ln w="19050">
            <a:solidFill>
              <a:srgbClr val="14202B"/>
            </a:solidFill>
            <a:prstDash val="solid"/>
          </a:ln>
        </p:spPr>
      </p:sp>
      <p:sp>
        <p:nvSpPr>
          <p:cNvPr id="30" name="Text 26"/>
          <p:cNvSpPr/>
          <p:nvPr/>
        </p:nvSpPr>
        <p:spPr>
          <a:xfrm>
            <a:off x="2864993" y="5379740"/>
            <a:ext cx="6462014"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02B"/>
                </a:solidFill>
                <a:latin typeface="Arial" pitchFamily="34" charset="0"/>
                <a:ea typeface="Arial" pitchFamily="34" charset="-122"/>
                <a:cs typeface="Arial" pitchFamily="34" charset="-120"/>
              </a:rPr>
              <a:t>Hier arbeiten Funkamateure: wörtlich, ohne Zusatz, ohne eigene Bewertung.</a:t>
            </a:r>
            <a:endParaRPr lang="en-US" sz="1400" dirty="0">
              <a:latin typeface="Arial" charset="0"/>
              <a:ea typeface="Arial" charset="0"/>
              <a:cs typeface="Arial" charset="0"/>
            </a:endParaRPr>
          </a:p>
        </p:txBody>
      </p:sp>
      <p:sp>
        <p:nvSpPr>
          <p:cNvPr id="31"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32"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Verlässlich übermitteln, wenn sonst nichts geht</a:t>
            </a:r>
            <a:endParaRPr lang="en-US" sz="3200" dirty="0">
              <a:latin typeface="Arial" charset="0"/>
              <a:ea typeface="Arial" charset="0"/>
              <a:cs typeface="Arial" charset="0"/>
            </a:endParaRPr>
          </a:p>
        </p:txBody>
      </p:sp>
      <p:sp>
        <p:nvSpPr>
          <p:cNvPr id="3" name="Shape 1"/>
          <p:cNvSpPr/>
          <p:nvPr/>
        </p:nvSpPr>
        <p:spPr>
          <a:xfrm>
            <a:off x="812800" y="2212380"/>
            <a:ext cx="5181600" cy="2412901"/>
          </a:xfrm>
          <a:prstGeom prst="roundRect">
            <a:avLst>
              <a:gd name="adj" fmla="val 4211"/>
            </a:avLst>
          </a:prstGeom>
          <a:solidFill>
            <a:srgbClr val="FFFFFF"/>
          </a:solidFill>
          <a:ln/>
        </p:spPr>
      </p:sp>
      <p:sp>
        <p:nvSpPr>
          <p:cNvPr id="4" name="Shape 2"/>
          <p:cNvSpPr/>
          <p:nvPr/>
        </p:nvSpPr>
        <p:spPr>
          <a:xfrm>
            <a:off x="812800" y="2212380"/>
            <a:ext cx="5181600" cy="2412901"/>
          </a:xfrm>
          <a:custGeom>
            <a:avLst/>
            <a:gdLst/>
            <a:ahLst/>
            <a:cxnLst/>
            <a:rect l="l" t="t" r="r" b="b"/>
            <a:pathLst>
              <a:path w="5181600" h="2412901">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1F6F85"/>
          </a:solidFill>
          <a:ln/>
        </p:spPr>
      </p:sp>
      <p:sp>
        <p:nvSpPr>
          <p:cNvPr id="5" name="Text 3"/>
          <p:cNvSpPr/>
          <p:nvPr/>
        </p:nvSpPr>
        <p:spPr>
          <a:xfrm>
            <a:off x="1066800" y="25171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Unsere Zusage</a:t>
            </a:r>
            <a:endParaRPr lang="en-US" sz="2000" dirty="0">
              <a:latin typeface="Arial" charset="0"/>
              <a:ea typeface="Arial" charset="0"/>
              <a:cs typeface="Arial" charset="0"/>
            </a:endParaRPr>
          </a:p>
        </p:txBody>
      </p:sp>
      <p:sp>
        <p:nvSpPr>
          <p:cNvPr id="6" name="Text 4"/>
          <p:cNvSpPr/>
          <p:nvPr/>
        </p:nvSpPr>
        <p:spPr>
          <a:xfrm>
            <a:off x="1143508" y="2948980"/>
            <a:ext cx="4729480" cy="1163241"/>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echte Meldungen, im Wortlaut unverändert</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Rücklesen schützt vor Hörfehlern</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Meldung und Antwort kommen wörtlich an</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Übergabe und Empfang sind nachvollziehbar</a:t>
            </a:r>
            <a:endParaRPr lang="en-US" sz="1600" dirty="0">
              <a:latin typeface="Arial" charset="0"/>
              <a:ea typeface="Arial" charset="0"/>
              <a:cs typeface="Arial" charset="0"/>
            </a:endParaRPr>
          </a:p>
        </p:txBody>
      </p:sp>
      <p:sp>
        <p:nvSpPr>
          <p:cNvPr id="7" name="Shape 5"/>
          <p:cNvSpPr/>
          <p:nvPr/>
        </p:nvSpPr>
        <p:spPr>
          <a:xfrm>
            <a:off x="6197600" y="2212380"/>
            <a:ext cx="5181600" cy="2412901"/>
          </a:xfrm>
          <a:prstGeom prst="roundRect">
            <a:avLst>
              <a:gd name="adj" fmla="val 4211"/>
            </a:avLst>
          </a:prstGeom>
          <a:solidFill>
            <a:srgbClr val="FFFFFF"/>
          </a:solidFill>
          <a:ln/>
        </p:spPr>
      </p:sp>
      <p:sp>
        <p:nvSpPr>
          <p:cNvPr id="8" name="Shape 6"/>
          <p:cNvSpPr/>
          <p:nvPr/>
        </p:nvSpPr>
        <p:spPr>
          <a:xfrm>
            <a:off x="6197600" y="2212380"/>
            <a:ext cx="5181600" cy="2412901"/>
          </a:xfrm>
          <a:custGeom>
            <a:avLst/>
            <a:gdLst/>
            <a:ahLst/>
            <a:cxnLst/>
            <a:rect l="l" t="t" r="r" b="b"/>
            <a:pathLst>
              <a:path w="5181600" h="2412901">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2A33A"/>
          </a:solidFill>
          <a:ln/>
        </p:spPr>
      </p:sp>
      <p:sp>
        <p:nvSpPr>
          <p:cNvPr id="9" name="Text 7"/>
          <p:cNvSpPr/>
          <p:nvPr/>
        </p:nvSpPr>
        <p:spPr>
          <a:xfrm>
            <a:off x="6451600" y="25171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Klare Regeln</a:t>
            </a:r>
            <a:endParaRPr lang="en-US" sz="2000" dirty="0">
              <a:latin typeface="Arial" charset="0"/>
              <a:ea typeface="Arial" charset="0"/>
              <a:cs typeface="Arial" charset="0"/>
            </a:endParaRPr>
          </a:p>
        </p:txBody>
      </p:sp>
      <p:sp>
        <p:nvSpPr>
          <p:cNvPr id="10" name="Text 8"/>
          <p:cNvSpPr/>
          <p:nvPr/>
        </p:nvSpPr>
        <p:spPr>
          <a:xfrm>
            <a:off x="6528308" y="2948980"/>
            <a:ext cx="4729480" cy="1447701"/>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der Inhalt wird nicht gedeutet, ergänzt oder gekürzt</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Dringlichkeit ist vorab festgelegt, nicht ad hoc (z. B. Lebensgefahr, Brand: noch festzulegen)</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14202B"/>
                </a:solidFill>
                <a:latin typeface="Arial" pitchFamily="34" charset="0"/>
                <a:ea typeface="Arial" pitchFamily="34" charset="-122"/>
                <a:cs typeface="Arial" pitchFamily="34" charset="-120"/>
              </a:rPr>
              <a:t>Entscheidungen trifft der Stab</a:t>
            </a:r>
            <a:endParaRPr lang="en-US" sz="1600" dirty="0">
              <a:latin typeface="Arial" charset="0"/>
              <a:ea typeface="Arial" charset="0"/>
              <a:cs typeface="Arial" charset="0"/>
            </a:endParaRPr>
          </a:p>
        </p:txBody>
      </p:sp>
      <p:sp>
        <p:nvSpPr>
          <p:cNvPr id="11" name="Text 9"/>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Wir helfen, wenn andere Wege ausfallen: der Stab kann sich auf jede Meldung verlassen.</a:t>
            </a:r>
            <a:endParaRPr lang="en-US" sz="1600" dirty="0">
              <a:latin typeface="Arial" charset="0"/>
              <a:ea typeface="Arial" charset="0"/>
              <a:cs typeface="Arial" charset="0"/>
            </a:endParaRPr>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Das Meldebuch an drei Stationen</a:t>
            </a:r>
            <a:endParaRPr lang="en-US" sz="3200" dirty="0">
              <a:latin typeface="Arial" charset="0"/>
              <a:ea typeface="Arial" charset="0"/>
              <a:cs typeface="Arial" charset="0"/>
            </a:endParaRPr>
          </a:p>
        </p:txBody>
      </p:sp>
      <p:sp>
        <p:nvSpPr>
          <p:cNvPr id="3" name="Shape 1"/>
          <p:cNvSpPr/>
          <p:nvPr/>
        </p:nvSpPr>
        <p:spPr>
          <a:xfrm>
            <a:off x="812800" y="2108299"/>
            <a:ext cx="3386634" cy="2407741"/>
          </a:xfrm>
          <a:prstGeom prst="roundRect">
            <a:avLst>
              <a:gd name="adj" fmla="val 4220"/>
            </a:avLst>
          </a:prstGeom>
          <a:solidFill>
            <a:srgbClr val="FFFFFF"/>
          </a:solidFill>
          <a:ln/>
        </p:spPr>
      </p:sp>
      <p:sp>
        <p:nvSpPr>
          <p:cNvPr id="4" name="Shape 2"/>
          <p:cNvSpPr/>
          <p:nvPr/>
        </p:nvSpPr>
        <p:spPr>
          <a:xfrm>
            <a:off x="812800" y="2108299"/>
            <a:ext cx="3386634" cy="2407741"/>
          </a:xfrm>
          <a:custGeom>
            <a:avLst/>
            <a:gdLst/>
            <a:ahLst/>
            <a:cxnLst/>
            <a:rect l="l" t="t" r="r" b="b"/>
            <a:pathLst>
              <a:path w="3386634" h="2407741">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3A7FC1"/>
          </a:solidFill>
          <a:ln/>
        </p:spPr>
      </p:sp>
      <p:sp>
        <p:nvSpPr>
          <p:cNvPr id="5" name="Text 3"/>
          <p:cNvSpPr/>
          <p:nvPr/>
        </p:nvSpPr>
        <p:spPr>
          <a:xfrm>
            <a:off x="1041400" y="2387699"/>
            <a:ext cx="30173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Lichtinsel</a:t>
            </a:r>
            <a:endParaRPr lang="en-US" sz="2000" dirty="0">
              <a:latin typeface="Arial" charset="0"/>
              <a:ea typeface="Arial" charset="0"/>
              <a:cs typeface="Arial" charset="0"/>
            </a:endParaRPr>
          </a:p>
        </p:txBody>
      </p:sp>
      <p:sp>
        <p:nvSpPr>
          <p:cNvPr id="6" name="Text 4"/>
          <p:cNvSpPr/>
          <p:nvPr/>
        </p:nvSpPr>
        <p:spPr>
          <a:xfrm>
            <a:off x="1138682" y="2794099"/>
            <a:ext cx="2912415" cy="151874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Wortlaut aufnehmen und zurücklesen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 den K-Vorsorgestandort funken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Antwort wörtlich an die Person weitergeben</a:t>
            </a:r>
            <a:endParaRPr lang="en-US" sz="1400" dirty="0">
              <a:latin typeface="Arial" charset="0"/>
              <a:ea typeface="Arial" charset="0"/>
              <a:cs typeface="Arial" charset="0"/>
            </a:endParaRPr>
          </a:p>
        </p:txBody>
      </p:sp>
      <p:sp>
        <p:nvSpPr>
          <p:cNvPr id="7" name="Shape 5"/>
          <p:cNvSpPr/>
          <p:nvPr/>
        </p:nvSpPr>
        <p:spPr>
          <a:xfrm>
            <a:off x="4402634" y="2108299"/>
            <a:ext cx="3386683" cy="2407741"/>
          </a:xfrm>
          <a:prstGeom prst="roundRect">
            <a:avLst>
              <a:gd name="adj" fmla="val 4220"/>
            </a:avLst>
          </a:prstGeom>
          <a:solidFill>
            <a:srgbClr val="FFFFFF"/>
          </a:solidFill>
          <a:ln/>
        </p:spPr>
      </p:sp>
      <p:sp>
        <p:nvSpPr>
          <p:cNvPr id="8" name="Shape 6"/>
          <p:cNvSpPr/>
          <p:nvPr/>
        </p:nvSpPr>
        <p:spPr>
          <a:xfrm>
            <a:off x="4402634" y="2108299"/>
            <a:ext cx="3386683" cy="2407741"/>
          </a:xfrm>
          <a:custGeom>
            <a:avLst/>
            <a:gdLst/>
            <a:ahLst/>
            <a:cxnLst/>
            <a:rect l="l" t="t" r="r" b="b"/>
            <a:pathLst>
              <a:path w="3386683" h="240774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D4680F"/>
          </a:solidFill>
          <a:ln/>
        </p:spPr>
      </p:sp>
      <p:sp>
        <p:nvSpPr>
          <p:cNvPr id="9" name="Text 7"/>
          <p:cNvSpPr/>
          <p:nvPr/>
        </p:nvSpPr>
        <p:spPr>
          <a:xfrm>
            <a:off x="4631234" y="2387699"/>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K-Vorsorgestandort</a:t>
            </a:r>
            <a:endParaRPr lang="en-US" sz="2000" dirty="0">
              <a:latin typeface="Arial" charset="0"/>
              <a:ea typeface="Arial" charset="0"/>
              <a:cs typeface="Arial" charset="0"/>
            </a:endParaRPr>
          </a:p>
        </p:txBody>
      </p:sp>
      <p:sp>
        <p:nvSpPr>
          <p:cNvPr id="10" name="Text 8"/>
          <p:cNvSpPr/>
          <p:nvPr/>
        </p:nvSpPr>
        <p:spPr>
          <a:xfrm>
            <a:off x="4728516" y="2794099"/>
            <a:ext cx="2912466"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Meldung von der Lichtinsel übernehmen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 die ELS weitergeben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Antwort zurück an die Lichtinsel</a:t>
            </a:r>
            <a:endParaRPr lang="en-US" sz="1400" dirty="0">
              <a:latin typeface="Arial" charset="0"/>
              <a:ea typeface="Arial" charset="0"/>
              <a:cs typeface="Arial" charset="0"/>
            </a:endParaRPr>
          </a:p>
        </p:txBody>
      </p:sp>
      <p:sp>
        <p:nvSpPr>
          <p:cNvPr id="11" name="Shape 9"/>
          <p:cNvSpPr/>
          <p:nvPr/>
        </p:nvSpPr>
        <p:spPr>
          <a:xfrm>
            <a:off x="7992517" y="2108299"/>
            <a:ext cx="3386683" cy="2407741"/>
          </a:xfrm>
          <a:prstGeom prst="roundRect">
            <a:avLst>
              <a:gd name="adj" fmla="val 4220"/>
            </a:avLst>
          </a:prstGeom>
          <a:solidFill>
            <a:srgbClr val="FFFFFF"/>
          </a:solidFill>
          <a:ln/>
        </p:spPr>
      </p:sp>
      <p:sp>
        <p:nvSpPr>
          <p:cNvPr id="12" name="Shape 10"/>
          <p:cNvSpPr/>
          <p:nvPr/>
        </p:nvSpPr>
        <p:spPr>
          <a:xfrm>
            <a:off x="7992517" y="2108299"/>
            <a:ext cx="3386683" cy="2407741"/>
          </a:xfrm>
          <a:custGeom>
            <a:avLst/>
            <a:gdLst/>
            <a:ahLst/>
            <a:cxnLst/>
            <a:rect l="l" t="t" r="r" b="b"/>
            <a:pathLst>
              <a:path w="3386683" h="240774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3D9A4F"/>
          </a:solidFill>
          <a:ln/>
        </p:spPr>
      </p:sp>
      <p:sp>
        <p:nvSpPr>
          <p:cNvPr id="13" name="Text 11"/>
          <p:cNvSpPr/>
          <p:nvPr/>
        </p:nvSpPr>
        <p:spPr>
          <a:xfrm>
            <a:off x="8221117" y="2387699"/>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Funkstelle der ELS</a:t>
            </a:r>
            <a:endParaRPr lang="en-US" sz="2000" dirty="0">
              <a:latin typeface="Arial" charset="0"/>
              <a:ea typeface="Arial" charset="0"/>
              <a:cs typeface="Arial" charset="0"/>
            </a:endParaRPr>
          </a:p>
        </p:txBody>
      </p:sp>
      <p:sp>
        <p:nvSpPr>
          <p:cNvPr id="14" name="Text 12"/>
          <p:cNvSpPr/>
          <p:nvPr/>
        </p:nvSpPr>
        <p:spPr>
          <a:xfrm>
            <a:off x="8318399" y="2794099"/>
            <a:ext cx="2912466"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Meldung aufnehmen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 die Meldesammelstelle übergeben, Referenz eintragen</a:t>
            </a:r>
            <a:endParaRPr lang="en-US" sz="1400" dirty="0">
              <a:latin typeface="Arial" charset="0"/>
              <a:ea typeface="Arial" charset="0"/>
              <a:cs typeface="Arial" charset="0"/>
            </a:endParaRPr>
          </a:p>
          <a:p>
            <a:pPr algn="l" marL="156718" indent="-156718">
              <a:lnSpc>
                <a:spcPts val="1960"/>
              </a:lnSpc>
              <a:buSzPct val="100000"/>
              <a:buChar char="•"/>
            </a:pPr>
            <a:r>
              <a:rPr lang="en-US" sz="1400" dirty="0">
                <a:solidFill>
                  <a:srgbClr val="4A5568"/>
                </a:solidFill>
                <a:latin typeface="Arial" pitchFamily="34" charset="0"/>
                <a:ea typeface="Arial" pitchFamily="34" charset="-122"/>
                <a:cs typeface="Arial" pitchFamily="34" charset="-120"/>
              </a:rPr>
              <a:t>Antwort wörtlich zurückfunken</a:t>
            </a:r>
            <a:endParaRPr lang="en-US" sz="1400" dirty="0">
              <a:latin typeface="Arial" charset="0"/>
              <a:ea typeface="Arial" charset="0"/>
              <a:cs typeface="Arial" charset="0"/>
            </a:endParaRPr>
          </a:p>
        </p:txBody>
      </p:sp>
      <p:sp>
        <p:nvSpPr>
          <p:cNvPr id="15" name="Text 13"/>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Jede übermittelte Meldung gehört ins Meldebuch: mit Wortlaut, Zeiten und Übergaben. Notfunk-Nummer: gehört der Station. Referenz: gehört der Meldesammelstelle.</a:t>
            </a:r>
            <a:endParaRPr lang="en-US" sz="1400" dirty="0">
              <a:latin typeface="Arial" charset="0"/>
              <a:ea typeface="Arial" charset="0"/>
              <a:cs typeface="Arial" charset="0"/>
            </a:endParaRPr>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DAS HANDBUCH</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Lernen, nachschlagen, üben</a:t>
            </a:r>
            <a:endParaRPr lang="en-US" sz="3200" dirty="0">
              <a:latin typeface="Arial" charset="0"/>
              <a:ea typeface="Arial" charset="0"/>
              <a:cs typeface="Arial" charset="0"/>
            </a:endParaRPr>
          </a:p>
        </p:txBody>
      </p:sp>
      <p:sp>
        <p:nvSpPr>
          <p:cNvPr id="4" name="Shape 2"/>
          <p:cNvSpPr/>
          <p:nvPr/>
        </p:nvSpPr>
        <p:spPr>
          <a:xfrm>
            <a:off x="812800" y="2133650"/>
            <a:ext cx="3386634" cy="2956421"/>
          </a:xfrm>
          <a:prstGeom prst="roundRect">
            <a:avLst>
              <a:gd name="adj" fmla="val 3437"/>
            </a:avLst>
          </a:prstGeom>
          <a:solidFill>
            <a:srgbClr val="FFFFFF"/>
          </a:solidFill>
          <a:ln/>
        </p:spPr>
      </p:sp>
      <p:sp>
        <p:nvSpPr>
          <p:cNvPr id="5" name="Shape 3"/>
          <p:cNvSpPr/>
          <p:nvPr/>
        </p:nvSpPr>
        <p:spPr>
          <a:xfrm>
            <a:off x="812800" y="2133650"/>
            <a:ext cx="3386634" cy="2956421"/>
          </a:xfrm>
          <a:custGeom>
            <a:avLst/>
            <a:gdLst/>
            <a:ahLst/>
            <a:cxnLst/>
            <a:rect l="l" t="t" r="r" b="b"/>
            <a:pathLst>
              <a:path w="3386634" h="2956421">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6" name="Text 4"/>
          <p:cNvSpPr/>
          <p:nvPr/>
        </p:nvSpPr>
        <p:spPr>
          <a:xfrm>
            <a:off x="1066800" y="243845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Tutorial</a:t>
            </a:r>
            <a:endParaRPr lang="en-US" sz="2000" dirty="0">
              <a:latin typeface="Arial" charset="0"/>
              <a:ea typeface="Arial" charset="0"/>
              <a:cs typeface="Arial" charset="0"/>
            </a:endParaRPr>
          </a:p>
        </p:txBody>
      </p:sp>
      <p:sp>
        <p:nvSpPr>
          <p:cNvPr id="7" name="Text 5"/>
          <p:cNvSpPr/>
          <p:nvPr/>
        </p:nvSpPr>
        <p:spPr>
          <a:xfrm>
            <a:off x="1066800" y="2844850"/>
            <a:ext cx="296499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Das Meldebuch Schritt für Schritt an einem Beispiel, in etwa zehn Minuten.</a:t>
            </a:r>
            <a:endParaRPr lang="en-US" sz="1600" dirty="0">
              <a:latin typeface="Arial" charset="0"/>
              <a:ea typeface="Arial" charset="0"/>
              <a:cs typeface="Arial" charset="0"/>
            </a:endParaRPr>
          </a:p>
        </p:txBody>
      </p:sp>
      <p:sp>
        <p:nvSpPr>
          <p:cNvPr id="8" name="Shape 6"/>
          <p:cNvSpPr/>
          <p:nvPr/>
        </p:nvSpPr>
        <p:spPr>
          <a:xfrm>
            <a:off x="4402634" y="2133650"/>
            <a:ext cx="3386683" cy="2956421"/>
          </a:xfrm>
          <a:prstGeom prst="roundRect">
            <a:avLst>
              <a:gd name="adj" fmla="val 3437"/>
            </a:avLst>
          </a:prstGeom>
          <a:solidFill>
            <a:srgbClr val="FFFFFF"/>
          </a:solidFill>
          <a:ln/>
        </p:spPr>
      </p:sp>
      <p:sp>
        <p:nvSpPr>
          <p:cNvPr id="9" name="Shape 7"/>
          <p:cNvSpPr/>
          <p:nvPr/>
        </p:nvSpPr>
        <p:spPr>
          <a:xfrm>
            <a:off x="4402634" y="2133650"/>
            <a:ext cx="3386683" cy="2956421"/>
          </a:xfrm>
          <a:custGeom>
            <a:avLst/>
            <a:gdLst/>
            <a:ahLst/>
            <a:cxnLst/>
            <a:rect l="l" t="t" r="r" b="b"/>
            <a:pathLst>
              <a:path w="3386683" h="295642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0" name="Text 8"/>
          <p:cNvSpPr/>
          <p:nvPr/>
        </p:nvSpPr>
        <p:spPr>
          <a:xfrm>
            <a:off x="4656634" y="243845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Handbuch</a:t>
            </a:r>
            <a:endParaRPr lang="en-US" sz="2000" dirty="0">
              <a:latin typeface="Arial" charset="0"/>
              <a:ea typeface="Arial" charset="0"/>
              <a:cs typeface="Arial" charset="0"/>
            </a:endParaRPr>
          </a:p>
        </p:txBody>
      </p:sp>
      <p:sp>
        <p:nvSpPr>
          <p:cNvPr id="11" name="Text 9"/>
          <p:cNvSpPr/>
          <p:nvPr/>
        </p:nvSpPr>
        <p:spPr>
          <a:xfrm>
            <a:off x="4733342" y="2844850"/>
            <a:ext cx="2880716" cy="2016621"/>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Einführung: der Weg einer Notmeldung</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Vorbereitung</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Einsatz und Meldung</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Meldebuch</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Ausdruck und PDF</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Sicherung</a:t>
            </a:r>
            <a:endParaRPr lang="en-US" sz="1600" dirty="0">
              <a:latin typeface="Arial" charset="0"/>
              <a:ea typeface="Arial" charset="0"/>
              <a:cs typeface="Arial" charset="0"/>
            </a:endParaRPr>
          </a:p>
        </p:txBody>
      </p:sp>
      <p:sp>
        <p:nvSpPr>
          <p:cNvPr id="12" name="Shape 10"/>
          <p:cNvSpPr/>
          <p:nvPr/>
        </p:nvSpPr>
        <p:spPr>
          <a:xfrm>
            <a:off x="7992517" y="2133650"/>
            <a:ext cx="3386683" cy="2956421"/>
          </a:xfrm>
          <a:prstGeom prst="roundRect">
            <a:avLst>
              <a:gd name="adj" fmla="val 3437"/>
            </a:avLst>
          </a:prstGeom>
          <a:solidFill>
            <a:srgbClr val="FFFFFF"/>
          </a:solidFill>
          <a:ln/>
        </p:spPr>
      </p:sp>
      <p:sp>
        <p:nvSpPr>
          <p:cNvPr id="13" name="Shape 11"/>
          <p:cNvSpPr/>
          <p:nvPr/>
        </p:nvSpPr>
        <p:spPr>
          <a:xfrm>
            <a:off x="7992517" y="2133650"/>
            <a:ext cx="3386683" cy="2956421"/>
          </a:xfrm>
          <a:custGeom>
            <a:avLst/>
            <a:gdLst/>
            <a:ahLst/>
            <a:cxnLst/>
            <a:rect l="l" t="t" r="r" b="b"/>
            <a:pathLst>
              <a:path w="3386683" h="295642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F2A33A"/>
          </a:solidFill>
          <a:ln/>
        </p:spPr>
      </p:sp>
      <p:sp>
        <p:nvSpPr>
          <p:cNvPr id="14" name="Text 12"/>
          <p:cNvSpPr/>
          <p:nvPr/>
        </p:nvSpPr>
        <p:spPr>
          <a:xfrm>
            <a:off x="8246517" y="243845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Nachschlagen</a:t>
            </a:r>
            <a:endParaRPr lang="en-US" sz="2000" dirty="0">
              <a:latin typeface="Arial" charset="0"/>
              <a:ea typeface="Arial" charset="0"/>
              <a:cs typeface="Arial" charset="0"/>
            </a:endParaRPr>
          </a:p>
        </p:txBody>
      </p:sp>
      <p:sp>
        <p:nvSpPr>
          <p:cNvPr id="15" name="Text 13"/>
          <p:cNvSpPr/>
          <p:nvPr/>
        </p:nvSpPr>
        <p:spPr>
          <a:xfrm>
            <a:off x="8323225" y="2844850"/>
            <a:ext cx="2880716" cy="878780"/>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Wenn etwas nicht klappt</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Tastatur und Hilfe</a:t>
            </a:r>
            <a:endParaRPr lang="en-US" sz="1600" dirty="0">
              <a:latin typeface="Arial" charset="0"/>
              <a:ea typeface="Arial" charset="0"/>
              <a:cs typeface="Arial" charset="0"/>
            </a:endParaRPr>
          </a:p>
          <a:p>
            <a:pPr algn="l" marL="177292" indent="-177292">
              <a:lnSpc>
                <a:spcPts val="2240"/>
              </a:lnSpc>
              <a:buSzPct val="100000"/>
              <a:buChar char="•"/>
            </a:pPr>
            <a:r>
              <a:rPr lang="en-US" sz="1600" dirty="0">
                <a:solidFill>
                  <a:srgbClr val="4A5568"/>
                </a:solidFill>
                <a:latin typeface="Arial" pitchFamily="34" charset="0"/>
                <a:ea typeface="Arial" pitchFamily="34" charset="-122"/>
                <a:cs typeface="Arial" pitchFamily="34" charset="-120"/>
              </a:rPr>
              <a:t>Quellen</a:t>
            </a:r>
            <a:endParaRPr lang="en-US" sz="1600" dirty="0">
              <a:latin typeface="Arial" charset="0"/>
              <a:ea typeface="Arial" charset="0"/>
              <a:cs typeface="Arial" charset="0"/>
            </a:endParaRPr>
          </a:p>
        </p:txBody>
      </p:sp>
      <p:sp>
        <p:nvSpPr>
          <p:cNvPr id="16" name="Text 14"/>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Die Kurzfassung steckt im Werkzeug: „? Hilfe“ in der Kopfzeile, F1 oder ? außerhalb von Textfeldern.</a:t>
            </a:r>
            <a:endParaRPr lang="en-US" sz="1400" dirty="0">
              <a:latin typeface="Arial" charset="0"/>
              <a:ea typeface="Arial" charset="0"/>
              <a:cs typeface="Arial" charset="0"/>
            </a:endParaRPr>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A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4202B"/>
                </a:solidFill>
                <a:latin typeface="Arial" pitchFamily="34" charset="0"/>
                <a:ea typeface="Arial" pitchFamily="34" charset="-122"/>
                <a:cs typeface="Arial" pitchFamily="34" charset="-120"/>
              </a:rPr>
              <a:t>LIVE-DEMO</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Eine Übung von Anfang bis Ende</a:t>
            </a:r>
            <a:endParaRPr lang="en-US" sz="3200" dirty="0">
              <a:latin typeface="Arial" charset="0"/>
              <a:ea typeface="Arial" charset="0"/>
              <a:cs typeface="Arial" charset="0"/>
            </a:endParaRPr>
          </a:p>
        </p:txBody>
      </p:sp>
      <p:sp>
        <p:nvSpPr>
          <p:cNvPr id="4" name="Text 2"/>
          <p:cNvSpPr/>
          <p:nvPr/>
        </p:nvSpPr>
        <p:spPr>
          <a:xfrm>
            <a:off x="784374" y="3556000"/>
            <a:ext cx="10904198" cy="2311400"/>
          </a:xfrm>
          <a:prstGeom prst="rect">
            <a:avLst/>
          </a:prstGeom>
          <a:noFill/>
          <a:ln/>
        </p:spPr>
        <p:txBody>
          <a:bodyPr wrap="square" lIns="0" tIns="0" rIns="0" bIns="0" rtlCol="0" anchor="t">
            <a:normAutofit/>
          </a:bodyPr>
          <a:lstStyle/>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Einsatz anlegen</a:t>
            </a:r>
            <a:endParaRPr lang="en-US" sz="2000" dirty="0">
              <a:latin typeface="Arial" charset="0"/>
              <a:ea typeface="Arial" charset="0"/>
              <a:cs typeface="Arial" charset="0"/>
            </a:endParaRPr>
          </a:p>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Meldung aufnehmen und speichern</a:t>
            </a:r>
            <a:endParaRPr lang="en-US" sz="2000" dirty="0">
              <a:latin typeface="Arial" charset="0"/>
              <a:ea typeface="Arial" charset="0"/>
              <a:cs typeface="Arial" charset="0"/>
            </a:endParaRPr>
          </a:p>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Meldebuch: Liste, Status, Karte</a:t>
            </a:r>
            <a:endParaRPr lang="en-US" sz="2000" dirty="0">
              <a:latin typeface="Arial" charset="0"/>
              <a:ea typeface="Arial" charset="0"/>
              <a:cs typeface="Arial" charset="0"/>
            </a:endParaRPr>
          </a:p>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Antwort des Stabs erfassen</a:t>
            </a:r>
            <a:endParaRPr lang="en-US" sz="2000" dirty="0">
              <a:latin typeface="Arial" charset="0"/>
              <a:ea typeface="Arial" charset="0"/>
              <a:cs typeface="Arial" charset="0"/>
            </a:endParaRPr>
          </a:p>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Ausdruck und PDF</a:t>
            </a:r>
            <a:endParaRPr lang="en-US" sz="2000" dirty="0">
              <a:latin typeface="Arial" charset="0"/>
              <a:ea typeface="Arial" charset="0"/>
              <a:cs typeface="Arial" charset="0"/>
            </a:endParaRPr>
          </a:p>
          <a:p>
            <a:pPr algn="l" marL="282426" indent="-282426">
              <a:lnSpc>
                <a:spcPts val="3000"/>
              </a:lnSpc>
              <a:buSzPct val="100000"/>
              <a:buFontTx/>
              <a:buAutoNum type="arabicPeriod" startAt="1"/>
            </a:pPr>
            <a:r>
              <a:rPr lang="en-US" sz="2000" b="1" dirty="0">
                <a:solidFill>
                  <a:srgbClr val="14202B"/>
                </a:solidFill>
                <a:latin typeface="Arial" pitchFamily="34" charset="0"/>
                <a:ea typeface="Arial" pitchFamily="34" charset="-122"/>
                <a:cs typeface="Arial" pitchFamily="34" charset="-120"/>
              </a:rPr>
              <a:t>Sicherung und Wiederherstellung</a:t>
            </a:r>
            <a:endParaRPr lang="en-US" sz="2000" dirty="0">
              <a:latin typeface="Arial" charset="0"/>
              <a:ea typeface="Arial" charset="0"/>
              <a:cs typeface="Arial" charset="0"/>
            </a:endParaRPr>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202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VOR DEM ERNSTFALL</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Was jede Station vorbereitet</a:t>
            </a:r>
            <a:endParaRPr lang="en-US" sz="3200" dirty="0">
              <a:latin typeface="Arial" charset="0"/>
              <a:ea typeface="Arial" charset="0"/>
              <a:cs typeface="Arial" charset="0"/>
            </a:endParaRPr>
          </a:p>
        </p:txBody>
      </p:sp>
      <p:sp>
        <p:nvSpPr>
          <p:cNvPr id="4" name="Shape 2"/>
          <p:cNvSpPr/>
          <p:nvPr/>
        </p:nvSpPr>
        <p:spPr>
          <a:xfrm>
            <a:off x="812800" y="2824559"/>
            <a:ext cx="5181600" cy="1407120"/>
          </a:xfrm>
          <a:prstGeom prst="roundRect">
            <a:avLst>
              <a:gd name="adj" fmla="val 7220"/>
            </a:avLst>
          </a:prstGeom>
          <a:solidFill>
            <a:srgbClr val="FFFFFF"/>
          </a:solidFill>
          <a:ln/>
        </p:spPr>
      </p:sp>
      <p:sp>
        <p:nvSpPr>
          <p:cNvPr id="5" name="Shape 3"/>
          <p:cNvSpPr/>
          <p:nvPr/>
        </p:nvSpPr>
        <p:spPr>
          <a:xfrm>
            <a:off x="812800" y="2824559"/>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6" name="Text 4"/>
          <p:cNvSpPr/>
          <p:nvPr/>
        </p:nvSpPr>
        <p:spPr>
          <a:xfrm>
            <a:off x="1092200" y="305315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Offline-Datei</a:t>
            </a:r>
            <a:endParaRPr lang="en-US" sz="2000" dirty="0">
              <a:latin typeface="Arial" charset="0"/>
              <a:ea typeface="Arial" charset="0"/>
              <a:cs typeface="Arial" charset="0"/>
            </a:endParaRPr>
          </a:p>
        </p:txBody>
      </p:sp>
      <p:sp>
        <p:nvSpPr>
          <p:cNvPr id="7" name="Text 5"/>
          <p:cNvSpPr/>
          <p:nvPr/>
        </p:nvSpPr>
        <p:spPr>
          <a:xfrm>
            <a:off x="1092200" y="3434159"/>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Das Meldebuch als Einzeldatei auf jedem Notfunk-Rechner.</a:t>
            </a:r>
            <a:endParaRPr lang="en-US" sz="1600" dirty="0">
              <a:latin typeface="Arial" charset="0"/>
              <a:ea typeface="Arial" charset="0"/>
              <a:cs typeface="Arial" charset="0"/>
            </a:endParaRPr>
          </a:p>
        </p:txBody>
      </p:sp>
      <p:sp>
        <p:nvSpPr>
          <p:cNvPr id="8" name="Shape 6"/>
          <p:cNvSpPr/>
          <p:nvPr/>
        </p:nvSpPr>
        <p:spPr>
          <a:xfrm>
            <a:off x="6197600" y="2824559"/>
            <a:ext cx="5181600" cy="1407120"/>
          </a:xfrm>
          <a:prstGeom prst="roundRect">
            <a:avLst>
              <a:gd name="adj" fmla="val 7220"/>
            </a:avLst>
          </a:prstGeom>
          <a:solidFill>
            <a:srgbClr val="FFFFFF"/>
          </a:solidFill>
          <a:ln/>
        </p:spPr>
      </p:sp>
      <p:sp>
        <p:nvSpPr>
          <p:cNvPr id="9" name="Shape 7"/>
          <p:cNvSpPr/>
          <p:nvPr/>
        </p:nvSpPr>
        <p:spPr>
          <a:xfrm>
            <a:off x="6197600" y="2824559"/>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F2A33A"/>
          </a:solidFill>
          <a:ln/>
        </p:spPr>
      </p:sp>
      <p:sp>
        <p:nvSpPr>
          <p:cNvPr id="10" name="Text 8"/>
          <p:cNvSpPr/>
          <p:nvPr/>
        </p:nvSpPr>
        <p:spPr>
          <a:xfrm>
            <a:off x="6477000" y="305315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Papierformular</a:t>
            </a:r>
            <a:endParaRPr lang="en-US" sz="2000" dirty="0">
              <a:latin typeface="Arial" charset="0"/>
              <a:ea typeface="Arial" charset="0"/>
              <a:cs typeface="Arial" charset="0"/>
            </a:endParaRPr>
          </a:p>
        </p:txBody>
      </p:sp>
      <p:sp>
        <p:nvSpPr>
          <p:cNvPr id="11" name="Text 9"/>
          <p:cNvSpPr/>
          <p:nvPr/>
        </p:nvSpPr>
        <p:spPr>
          <a:xfrm>
            <a:off x="6477000" y="3434159"/>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Leeres Formular als PDF ausdrucken und bereithalten.</a:t>
            </a:r>
            <a:endParaRPr lang="en-US" sz="1600" dirty="0">
              <a:latin typeface="Arial" charset="0"/>
              <a:ea typeface="Arial" charset="0"/>
              <a:cs typeface="Arial" charset="0"/>
            </a:endParaRPr>
          </a:p>
        </p:txBody>
      </p:sp>
      <p:sp>
        <p:nvSpPr>
          <p:cNvPr id="12" name="Shape 10"/>
          <p:cNvSpPr/>
          <p:nvPr/>
        </p:nvSpPr>
        <p:spPr>
          <a:xfrm>
            <a:off x="812800" y="4434880"/>
            <a:ext cx="5181600" cy="1407120"/>
          </a:xfrm>
          <a:prstGeom prst="roundRect">
            <a:avLst>
              <a:gd name="adj" fmla="val 7220"/>
            </a:avLst>
          </a:prstGeom>
          <a:solidFill>
            <a:srgbClr val="FFFFFF"/>
          </a:solidFill>
          <a:ln/>
        </p:spPr>
      </p:sp>
      <p:sp>
        <p:nvSpPr>
          <p:cNvPr id="13" name="Shape 11"/>
          <p:cNvSpPr/>
          <p:nvPr/>
        </p:nvSpPr>
        <p:spPr>
          <a:xfrm>
            <a:off x="812800" y="4434880"/>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14" name="Text 12"/>
          <p:cNvSpPr/>
          <p:nvPr/>
        </p:nvSpPr>
        <p:spPr>
          <a:xfrm>
            <a:off x="1092200" y="46634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Sicherung</a:t>
            </a:r>
            <a:endParaRPr lang="en-US" sz="2000" dirty="0">
              <a:latin typeface="Arial" charset="0"/>
              <a:ea typeface="Arial" charset="0"/>
              <a:cs typeface="Arial" charset="0"/>
            </a:endParaRPr>
          </a:p>
        </p:txBody>
      </p:sp>
      <p:sp>
        <p:nvSpPr>
          <p:cNvPr id="15" name="Text 13"/>
          <p:cNvSpPr/>
          <p:nvPr/>
        </p:nvSpPr>
        <p:spPr>
          <a:xfrm>
            <a:off x="1092200" y="5044480"/>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Regelmäßig sichern, die Wiederherstellung vorher üben.</a:t>
            </a:r>
            <a:endParaRPr lang="en-US" sz="1600" dirty="0">
              <a:latin typeface="Arial" charset="0"/>
              <a:ea typeface="Arial" charset="0"/>
              <a:cs typeface="Arial" charset="0"/>
            </a:endParaRPr>
          </a:p>
        </p:txBody>
      </p:sp>
      <p:sp>
        <p:nvSpPr>
          <p:cNvPr id="16" name="Shape 14"/>
          <p:cNvSpPr/>
          <p:nvPr/>
        </p:nvSpPr>
        <p:spPr>
          <a:xfrm>
            <a:off x="6197600" y="4434880"/>
            <a:ext cx="5181600" cy="1407120"/>
          </a:xfrm>
          <a:prstGeom prst="roundRect">
            <a:avLst>
              <a:gd name="adj" fmla="val 7220"/>
            </a:avLst>
          </a:prstGeom>
          <a:solidFill>
            <a:srgbClr val="FFFFFF"/>
          </a:solidFill>
          <a:ln/>
        </p:spPr>
      </p:sp>
      <p:sp>
        <p:nvSpPr>
          <p:cNvPr id="17" name="Shape 15"/>
          <p:cNvSpPr/>
          <p:nvPr/>
        </p:nvSpPr>
        <p:spPr>
          <a:xfrm>
            <a:off x="6197600" y="4434880"/>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18" name="Text 16"/>
          <p:cNvSpPr/>
          <p:nvPr/>
        </p:nvSpPr>
        <p:spPr>
          <a:xfrm>
            <a:off x="6477000" y="46634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Arial" pitchFamily="34" charset="0"/>
                <a:ea typeface="Arial" pitchFamily="34" charset="-122"/>
                <a:cs typeface="Arial" pitchFamily="34" charset="-120"/>
              </a:rPr>
              <a:t>Netz und Drucker</a:t>
            </a:r>
            <a:endParaRPr lang="en-US" sz="2000" dirty="0">
              <a:latin typeface="Arial" charset="0"/>
              <a:ea typeface="Arial" charset="0"/>
              <a:cs typeface="Arial" charset="0"/>
            </a:endParaRPr>
          </a:p>
        </p:txBody>
      </p:sp>
      <p:sp>
        <p:nvSpPr>
          <p:cNvPr id="19" name="Text 17"/>
          <p:cNvSpPr/>
          <p:nvPr/>
        </p:nvSpPr>
        <p:spPr>
          <a:xfrm>
            <a:off x="6477000" y="5044480"/>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Arial" pitchFamily="34" charset="0"/>
                <a:ea typeface="Arial" pitchFamily="34" charset="-122"/>
                <a:cs typeface="Arial" pitchFamily="34" charset="-120"/>
              </a:rPr>
              <a:t>Lokales Netz und Drucker: sehr nützlich, aber nicht nötig.</a:t>
            </a:r>
            <a:endParaRPr lang="en-US" sz="1600" dirty="0">
              <a:latin typeface="Arial" charset="0"/>
              <a:ea typeface="Arial" charset="0"/>
              <a:cs typeface="Arial" charset="0"/>
            </a:endParaRPr>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ZUR DISKUSSION</a:t>
            </a:r>
            <a:endParaRPr lang="en-US" sz="1400" dirty="0">
              <a:latin typeface="Arial" charset="0"/>
              <a:ea typeface="Arial" charset="0"/>
              <a:cs typeface="Arial"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Arial" pitchFamily="34" charset="0"/>
                <a:ea typeface="Arial" pitchFamily="34" charset="-122"/>
                <a:cs typeface="Arial" pitchFamily="34" charset="-120"/>
              </a:rPr>
              <a:t>Den Meldeweg gemeinsam festlegen</a:t>
            </a:r>
            <a:endParaRPr lang="en-US" sz="3200" dirty="0">
              <a:latin typeface="Arial" charset="0"/>
              <a:ea typeface="Arial" charset="0"/>
              <a:cs typeface="Arial" charset="0"/>
            </a:endParaRPr>
          </a:p>
        </p:txBody>
      </p:sp>
      <p:sp>
        <p:nvSpPr>
          <p:cNvPr id="4" name="Text 2"/>
          <p:cNvSpPr/>
          <p:nvPr/>
        </p:nvSpPr>
        <p:spPr>
          <a:xfrm>
            <a:off x="812800" y="2552750"/>
            <a:ext cx="5181600" cy="690860"/>
          </a:xfrm>
          <a:prstGeom prst="roundRect">
            <a:avLst>
              <a:gd name="adj" fmla="val 14706"/>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1</a:t>
            </a:r>
            <a:r>
              <a:rPr lang="en-US" sz="1600" dirty="0">
                <a:solidFill>
                  <a:srgbClr val="14202B"/>
                </a:solidFill>
                <a:latin typeface="Arial" pitchFamily="34" charset="0"/>
                <a:ea typeface="Arial" pitchFamily="34" charset="-122"/>
                <a:cs typeface="Arial" pitchFamily="34" charset="-120"/>
              </a:rPr>
              <a:t> · Bezeichnung und Nummernschema der Referenz</a:t>
            </a:r>
            <a:endParaRPr lang="en-US" sz="1600" dirty="0">
              <a:latin typeface="Arial" charset="0"/>
              <a:ea typeface="Arial" charset="0"/>
              <a:cs typeface="Arial" charset="0"/>
            </a:endParaRPr>
          </a:p>
        </p:txBody>
      </p:sp>
      <p:sp>
        <p:nvSpPr>
          <p:cNvPr id="5" name="Text 3"/>
          <p:cNvSpPr/>
          <p:nvPr/>
        </p:nvSpPr>
        <p:spPr>
          <a:xfrm>
            <a:off x="6197600" y="2552750"/>
            <a:ext cx="5181600" cy="690860"/>
          </a:xfrm>
          <a:prstGeom prst="roundRect">
            <a:avLst>
              <a:gd name="adj" fmla="val 14706"/>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2</a:t>
            </a:r>
            <a:r>
              <a:rPr lang="en-US" sz="1600" dirty="0">
                <a:solidFill>
                  <a:srgbClr val="14202B"/>
                </a:solidFill>
                <a:latin typeface="Arial" pitchFamily="34" charset="0"/>
                <a:ea typeface="Arial" pitchFamily="34" charset="-122"/>
                <a:cs typeface="Arial" pitchFamily="34" charset="-120"/>
              </a:rPr>
              <a:t> · Dringlichkeitsstufen und ihre Bedeutung</a:t>
            </a:r>
            <a:endParaRPr lang="en-US" sz="1600" dirty="0">
              <a:latin typeface="Arial" charset="0"/>
              <a:ea typeface="Arial" charset="0"/>
              <a:cs typeface="Arial" charset="0"/>
            </a:endParaRPr>
          </a:p>
        </p:txBody>
      </p:sp>
      <p:sp>
        <p:nvSpPr>
          <p:cNvPr id="6" name="Text 4"/>
          <p:cNvSpPr/>
          <p:nvPr/>
        </p:nvSpPr>
        <p:spPr>
          <a:xfrm>
            <a:off x="812800" y="3446810"/>
            <a:ext cx="5181600" cy="975320"/>
          </a:xfrm>
          <a:prstGeom prst="roundRect">
            <a:avLst>
              <a:gd name="adj" fmla="val 10417"/>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3</a:t>
            </a:r>
            <a:r>
              <a:rPr lang="en-US" sz="1600" dirty="0">
                <a:solidFill>
                  <a:srgbClr val="14202B"/>
                </a:solidFill>
                <a:latin typeface="Arial" pitchFamily="34" charset="0"/>
                <a:ea typeface="Arial" pitchFamily="34" charset="-122"/>
                <a:cs typeface="Arial" pitchFamily="34" charset="-120"/>
              </a:rPr>
              <a:t> · Welche Übergabe- und Empfangsbestätigungen nötig sind</a:t>
            </a:r>
            <a:endParaRPr lang="en-US" sz="1600" dirty="0">
              <a:latin typeface="Arial" charset="0"/>
              <a:ea typeface="Arial" charset="0"/>
              <a:cs typeface="Arial" charset="0"/>
            </a:endParaRPr>
          </a:p>
        </p:txBody>
      </p:sp>
      <p:sp>
        <p:nvSpPr>
          <p:cNvPr id="7" name="Text 5"/>
          <p:cNvSpPr/>
          <p:nvPr/>
        </p:nvSpPr>
        <p:spPr>
          <a:xfrm>
            <a:off x="6197600" y="3446810"/>
            <a:ext cx="5181600" cy="975320"/>
          </a:xfrm>
          <a:prstGeom prst="roundRect">
            <a:avLst>
              <a:gd name="adj" fmla="val 10417"/>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Arial" pitchFamily="34" charset="0"/>
                <a:ea typeface="Arial" pitchFamily="34" charset="-122"/>
                <a:cs typeface="Arial" pitchFamily="34" charset="-120"/>
              </a:rPr>
              <a:t>4</a:t>
            </a:r>
            <a:r>
              <a:rPr lang="en-US" sz="1600" dirty="0">
                <a:solidFill>
                  <a:srgbClr val="14202B"/>
                </a:solidFill>
                <a:latin typeface="Arial" pitchFamily="34" charset="0"/>
                <a:ea typeface="Arial" pitchFamily="34" charset="-122"/>
                <a:cs typeface="Arial" pitchFamily="34" charset="-120"/>
              </a:rPr>
              <a:t> · Meldungen, die nicht lesbar auf eine Seite passen</a:t>
            </a:r>
            <a:endParaRPr lang="en-US" sz="1600" dirty="0">
              <a:latin typeface="Arial" charset="0"/>
              <a:ea typeface="Arial" charset="0"/>
              <a:cs typeface="Arial" charset="0"/>
            </a:endParaRPr>
          </a:p>
        </p:txBody>
      </p:sp>
      <p:sp>
        <p:nvSpPr>
          <p:cNvPr id="8" name="Text 6"/>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Das Meldungsformat ist ein Entwurf für Übungen und noch nicht mit dem Notfunkreferat Wien und der Meldesammelstelle abgestimmt.</a:t>
            </a:r>
            <a:endParaRPr lang="en-US" sz="1400" dirty="0">
              <a:latin typeface="Arial" charset="0"/>
              <a:ea typeface="Arial" charset="0"/>
              <a:cs typeface="Arial" charset="0"/>
            </a:endParaRPr>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Arial" pitchFamily="34" charset="0"/>
                <a:ea typeface="Arial" pitchFamily="34" charset="-122"/>
                <a:cs typeface="Arial" pitchFamily="34" charset="-120"/>
              </a:rPr>
              <a:t>Notfunk-Meldebuch · Einführung</a:t>
            </a:r>
            <a:endParaRPr lang="en-US" sz="1200" dirty="0">
              <a:latin typeface="Arial" charset="0"/>
              <a:ea typeface="Arial" charset="0"/>
              <a:cs typeface="Arial" charset="0"/>
            </a:endParaRPr>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pic>
        <p:nvPicPr>
          <p:cNvPr id="2" name="Image 0" descr="QR-Code zu oe1ebg.at/tools/notfunk">    </p:cNvPr>
          <p:cNvPicPr>
            <a:picLocks noChangeAspect="1"/>
          </p:cNvPicPr>
          <p:nvPr/>
        </p:nvPicPr>
        <p:blipFill>
          <a:blip r:embed="rId1"/>
          <a:srcRect l="0" r="0" t="0" b="0"/>
          <a:stretch/>
        </p:blipFill>
        <p:spPr>
          <a:xfrm>
            <a:off x="8636000" y="2032000"/>
            <a:ext cx="2743200" cy="274320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Arial" pitchFamily="34" charset="0"/>
                <a:ea typeface="Arial" pitchFamily="34" charset="-122"/>
                <a:cs typeface="Arial" pitchFamily="34" charset="-120"/>
              </a:rPr>
              <a:t>NOTFUNK-MELDEBUCH</a:t>
            </a:r>
            <a:endParaRPr lang="en-US" sz="1400" dirty="0">
              <a:latin typeface="Arial" charset="0"/>
              <a:ea typeface="Arial" charset="0"/>
              <a:cs typeface="Arial" charset="0"/>
            </a:endParaRPr>
          </a:p>
        </p:txBody>
      </p:sp>
      <p:sp>
        <p:nvSpPr>
          <p:cNvPr id="4" name="Text 1"/>
          <p:cNvSpPr/>
          <p:nvPr>
            <p:ph type="title"/>
          </p:nvPr>
        </p:nvSpPr>
        <p:spPr>
          <a:xfrm>
            <a:off x="812800" y="2140000"/>
            <a:ext cx="71945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02B"/>
                </a:solidFill>
                <a:latin typeface="Arial" pitchFamily="34" charset="0"/>
                <a:ea typeface="Arial" pitchFamily="34" charset="-122"/>
                <a:cs typeface="Arial" pitchFamily="34" charset="-120"/>
              </a:rPr>
              <a:t>Fragen?</a:t>
            </a:r>
            <a:endParaRPr lang="en-US" sz="6000" dirty="0">
              <a:latin typeface="Arial" charset="0"/>
              <a:ea typeface="Arial" charset="0"/>
              <a:cs typeface="Arial" charset="0"/>
            </a:endParaRPr>
          </a:p>
        </p:txBody>
      </p:sp>
      <p:sp>
        <p:nvSpPr>
          <p:cNvPr id="5" name="Text 2"/>
          <p:cNvSpPr/>
          <p:nvPr/>
        </p:nvSpPr>
        <p:spPr>
          <a:xfrm>
            <a:off x="812800" y="3143300"/>
            <a:ext cx="71945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A5568"/>
                </a:solidFill>
                <a:latin typeface="Arial" pitchFamily="34" charset="0"/>
                <a:ea typeface="Arial" pitchFamily="34" charset="-122"/>
                <a:cs typeface="Arial" pitchFamily="34" charset="-120"/>
              </a:rPr>
              <a:t>Ausprobieren in der nächsten Übung, Rückmeldung willkommen.</a:t>
            </a:r>
            <a:endParaRPr lang="en-US" sz="2000" dirty="0">
              <a:latin typeface="Arial" charset="0"/>
              <a:ea typeface="Arial" charset="0"/>
              <a:cs typeface="Arial" charset="0"/>
            </a:endParaRPr>
          </a:p>
        </p:txBody>
      </p:sp>
      <p:sp>
        <p:nvSpPr>
          <p:cNvPr id="6" name="Text 3"/>
          <p:cNvSpPr/>
          <p:nvPr/>
        </p:nvSpPr>
        <p:spPr>
          <a:xfrm>
            <a:off x="812800" y="4881959"/>
            <a:ext cx="7194550" cy="416520"/>
          </a:xfrm>
          <a:prstGeom prst="rect">
            <a:avLst/>
          </a:prstGeom>
          <a:noFill/>
          <a:ln/>
        </p:spPr>
        <p:txBody>
          <a:bodyPr wrap="square" lIns="0" tIns="0" rIns="0" bIns="0" rtlCol="0" anchor="t">
            <a:normAutofit/>
          </a:bodyPr>
          <a:lstStyle/>
          <a:p>
            <a:pPr algn="l" indent="0" marL="0">
              <a:lnSpc>
                <a:spcPts val="3080"/>
              </a:lnSpc>
              <a:buNone/>
            </a:pPr>
            <a:r>
              <a:rPr lang="en-US" sz="2200" b="1" u="sng" dirty="0">
                <a:solidFill>
                  <a:srgbClr val="1F6F85"/>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https://oe1ebg.at/tools/notfunk/</a:t>
            </a:r>
            <a:endParaRPr lang="en-US" sz="2200" dirty="0">
              <a:latin typeface="Arial" charset="0"/>
              <a:ea typeface="Arial" charset="0"/>
              <a:cs typeface="Arial" charset="0"/>
            </a:endParaRPr>
          </a:p>
        </p:txBody>
      </p:sp>
      <p:pic>
        <p:nvPicPr>
          <p:cNvPr id="7" name="Image 1" descr="GitHub">    </p:cNvPr>
          <p:cNvPicPr>
            <a:picLocks noChangeAspect="1"/>
          </p:cNvPicPr>
          <p:nvPr/>
        </p:nvPicPr>
        <p:blipFill>
          <a:blip r:embed="rId3"/>
          <a:srcRect l="0" r="0" t="0" b="0"/>
          <a:stretch/>
        </p:blipFill>
        <p:spPr>
          <a:xfrm>
            <a:off x="812800" y="5377210"/>
            <a:ext cx="279400" cy="279400"/>
          </a:xfrm>
          <a:prstGeom prst="rect">
            <a:avLst/>
          </a:prstGeom>
        </p:spPr>
      </p:pic>
      <p:sp>
        <p:nvSpPr>
          <p:cNvPr id="8" name="Text 4"/>
          <p:cNvSpPr/>
          <p:nvPr/>
        </p:nvSpPr>
        <p:spPr>
          <a:xfrm>
            <a:off x="1193800" y="5374680"/>
            <a:ext cx="706243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B"/>
                </a:solidFill>
                <a:latin typeface="Arial" pitchFamily="34" charset="0"/>
                <a:ea typeface="Arial" pitchFamily="34" charset="-122"/>
                <a:cs typeface="Arial" pitchFamily="34" charset="-120"/>
              </a:rPr>
              <a:t>Quellcode und Fehlermeldungen: </a:t>
            </a:r>
            <a:r>
              <a:rPr lang="en-US" sz="1600" u="sng" dirty="0">
                <a:solidFill>
                  <a:srgbClr val="14202B"/>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https://github.com/oe1ebg/tools</a:t>
            </a:r>
            <a:endParaRPr lang="en-US" sz="1600" dirty="0">
              <a:latin typeface="Arial" charset="0"/>
              <a:ea typeface="Arial" charset="0"/>
              <a:cs typeface="Arial" charset="0"/>
            </a:endParaRPr>
          </a:p>
        </p:txBody>
      </p:sp>
      <p:sp>
        <p:nvSpPr>
          <p:cNvPr id="9" name="Text 5"/>
          <p:cNvSpPr/>
          <p:nvPr/>
        </p:nvSpPr>
        <p:spPr>
          <a:xfrm>
            <a:off x="812800" y="5760740"/>
            <a:ext cx="71945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B"/>
                </a:solidFill>
                <a:latin typeface="Arial" pitchFamily="34" charset="0"/>
                <a:ea typeface="Arial" pitchFamily="34" charset="-122"/>
                <a:cs typeface="Arial" pitchFamily="34" charset="-120"/>
              </a:rPr>
              <a:t>Kontakt: cq@oe1ebg.at oder in der Notfunk Telegram Gruppe</a:t>
            </a:r>
            <a:endParaRPr lang="en-US" sz="1600" dirty="0">
              <a:latin typeface="Arial" charset="0"/>
              <a:ea typeface="Arial" charset="0"/>
              <a:cs typeface="Arial" charset="0"/>
            </a:endParaRPr>
          </a:p>
        </p:txBody>
      </p:sp>
    </p:spTree>
  </p:cSld>
  <p:clrMapOvr>
    <a:masterClrMapping/>
  </p:clrMapOvr>
</p:sld>
</file>

<file path=ppt/theme/theme1.xml><?xml version="1.0" encoding="utf-8"?>
<a:theme xmlns:a="http://schemas.openxmlformats.org/drawingml/2006/main" name="Notfunk-Meldebuch: Einführung">
  <a:themeElements>
    <a:clrScheme name="Notfunk-Meldebuch: Einführung">
      <a:dk1>
        <a:srgbClr val="14202B"/>
      </a:dk1>
      <a:lt1>
        <a:srgbClr val="F4F1EA"/>
      </a:lt1>
      <a:dk2>
        <a:srgbClr val="4C545B"/>
      </a:dk2>
      <a:lt2>
        <a:srgbClr val="DEDCD7"/>
      </a:lt2>
      <a:accent1>
        <a:srgbClr val="1F6F85"/>
      </a:accent1>
      <a:accent2>
        <a:srgbClr val="F2A33A"/>
      </a:accent2>
      <a:accent3>
        <a:srgbClr val="4A5568"/>
      </a:accent3>
      <a:accent4>
        <a:srgbClr val="5A6672"/>
      </a:accent4>
      <a:accent5>
        <a:srgbClr val="9AA0A6"/>
      </a:accent5>
      <a:accent6>
        <a:srgbClr val="6E7477"/>
      </a:accent6>
      <a:hlink>
        <a:srgbClr val="0563C1"/>
      </a:hlink>
      <a:folHlink>
        <a:srgbClr val="954F72"/>
      </a:folHlink>
    </a:clrScheme>
    <a:fontScheme name="Notfunk-Meldebuch: Einführu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Notfunk-Meldebuch: Einführung</dc:title>
  <dc:subject/>
  <dc:creator/>
  <cp:lastModifiedBy/>
  <cp:revision>1</cp:revision>
  <dcterms:created xsi:type="dcterms:W3CDTF">2026-10-30T23:06:51Z</dcterms:created>
  <dcterms:modified xsi:type="dcterms:W3CDTF">2026-10-30T23:06:51Z</dcterms:modified>
</cp:coreProperties>
</file>